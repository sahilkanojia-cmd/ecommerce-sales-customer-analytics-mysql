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8288000" cy="10287000"/>
  <p:notesSz cx="6858000" cy="9144000"/>
  <p:embeddedFontLst>
    <p:embeddedFont>
      <p:font typeface="Aileron Bold" panose="020B0604020202020204" charset="0"/>
      <p:regular r:id="rId33"/>
    </p:embeddedFont>
    <p:embeddedFont>
      <p:font typeface="Aileron Light" panose="020B0604020202020204" charset="0"/>
      <p:regular r:id="rId34"/>
    </p:embeddedFont>
    <p:embeddedFont>
      <p:font typeface="Poppins" panose="00000500000000000000" pitchFamily="2" charset="0"/>
      <p:regular r:id="rId35"/>
    </p:embeddedFont>
    <p:embeddedFont>
      <p:font typeface="Poppins Bold" panose="020B0604020202020204" charset="0"/>
      <p:regular r:id="rId36"/>
    </p:embeddedFont>
    <p:embeddedFont>
      <p:font typeface="Poppins Italics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398004"/>
            <a:ext cx="9221575" cy="3954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68"/>
              </a:lnSpc>
            </a:pPr>
            <a:r>
              <a:rPr lang="en-US" sz="10372" b="1" spc="-518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E-COMMERCE SALES &amp; CUSTOMER ANALYTICS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7304471"/>
            <a:ext cx="6636271" cy="40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0"/>
              </a:lnSpc>
            </a:pPr>
            <a:r>
              <a:rPr lang="en-US" sz="3252" spc="-32">
                <a:solidFill>
                  <a:srgbClr val="1F191A"/>
                </a:solidFill>
                <a:latin typeface="Aileron Light"/>
                <a:ea typeface="Aileron Light"/>
                <a:cs typeface="Aileron Light"/>
                <a:sym typeface="Aileron Light"/>
              </a:rPr>
              <a:t>MySQL Data Analyst Portfolio Project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9037839"/>
            <a:ext cx="1760322" cy="220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42"/>
              </a:lnSpc>
            </a:pPr>
            <a:r>
              <a:rPr lang="en-US" sz="158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Sahil Kanojia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049208"/>
            <a:ext cx="2211083" cy="220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42"/>
              </a:lnSpc>
            </a:pPr>
            <a:r>
              <a:rPr lang="en-US" sz="158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Aspiring Data Analyst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44753" y="9037839"/>
            <a:ext cx="1760322" cy="217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542"/>
              </a:lnSpc>
            </a:pPr>
            <a:r>
              <a:rPr lang="en-US" sz="1589" spc="-3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Portfolio Project</a:t>
            </a:r>
          </a:p>
        </p:txBody>
      </p:sp>
      <p:sp>
        <p:nvSpPr>
          <p:cNvPr id="7" name="Freeform 7"/>
          <p:cNvSpPr/>
          <p:nvPr/>
        </p:nvSpPr>
        <p:spPr>
          <a:xfrm>
            <a:off x="9599675" y="2467393"/>
            <a:ext cx="7837380" cy="6956522"/>
          </a:xfrm>
          <a:custGeom>
            <a:avLst/>
            <a:gdLst/>
            <a:ahLst/>
            <a:cxnLst/>
            <a:rect l="l" t="t" r="r" b="b"/>
            <a:pathLst>
              <a:path w="7837380" h="6956522">
                <a:moveTo>
                  <a:pt x="0" y="0"/>
                </a:moveTo>
                <a:lnTo>
                  <a:pt x="7837381" y="0"/>
                </a:lnTo>
                <a:lnTo>
                  <a:pt x="7837381" y="6956522"/>
                </a:lnTo>
                <a:lnTo>
                  <a:pt x="0" y="6956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63804" y="3703881"/>
            <a:ext cx="8107320" cy="2229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85"/>
              </a:lnSpc>
            </a:pPr>
            <a:r>
              <a:rPr lang="en-US" sz="11229" b="1" spc="-561">
                <a:solidFill>
                  <a:srgbClr val="FAFAFA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</a:t>
            </a:r>
          </a:p>
          <a:p>
            <a:pPr marL="0" lvl="0" indent="0" algn="l">
              <a:lnSpc>
                <a:spcPts val="8085"/>
              </a:lnSpc>
            </a:pPr>
            <a:r>
              <a:rPr lang="en-US" sz="11229" b="1" spc="-561">
                <a:solidFill>
                  <a:srgbClr val="FAFAFA"/>
                </a:solidFill>
                <a:latin typeface="Aileron Bold"/>
                <a:ea typeface="Aileron Bold"/>
                <a:cs typeface="Aileron Bold"/>
                <a:sym typeface="Aileron Bold"/>
              </a:rPr>
              <a:t>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363804" y="1047750"/>
            <a:ext cx="7003770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 structured MySQL-based analytical project covering database design, customer and product analysis, business insight extraction, and reusable reporting views.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104343" y="8207756"/>
            <a:ext cx="3709830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SQL used to extract meaningful business insights from relational e-commerce data across customers, products, orders, and payments.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047750"/>
            <a:ext cx="5555178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Scope &amp; Objectives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E-Commerce Sales &amp; Customer Analytics Portfolio Project by Sahil Kanojia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63804" y="8298477"/>
            <a:ext cx="3060513" cy="110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• Designed relational e-commerce database using MySQL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• Analyzed customers, products, orders &amp; payments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• SQL for business insights extraction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• Built reusable analytical views for reporting</a:t>
            </a:r>
          </a:p>
        </p:txBody>
      </p:sp>
      <p:sp>
        <p:nvSpPr>
          <p:cNvPr id="7" name="Freeform 7"/>
          <p:cNvSpPr/>
          <p:nvPr/>
        </p:nvSpPr>
        <p:spPr>
          <a:xfrm>
            <a:off x="1380954" y="3255666"/>
            <a:ext cx="6718920" cy="6240197"/>
          </a:xfrm>
          <a:custGeom>
            <a:avLst/>
            <a:gdLst/>
            <a:ahLst/>
            <a:cxnLst/>
            <a:rect l="l" t="t" r="r" b="b"/>
            <a:pathLst>
              <a:path w="6718920" h="6240197">
                <a:moveTo>
                  <a:pt x="0" y="0"/>
                </a:moveTo>
                <a:lnTo>
                  <a:pt x="6718920" y="0"/>
                </a:lnTo>
                <a:lnTo>
                  <a:pt x="6718920" y="6240197"/>
                </a:lnTo>
                <a:lnTo>
                  <a:pt x="0" y="6240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509589"/>
            <a:ext cx="7929860" cy="188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34"/>
              </a:lnSpc>
            </a:pPr>
            <a:r>
              <a:rPr lang="en-US" sz="9492" b="1" spc="-474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BUSINESS 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754122"/>
            <a:ext cx="7003770" cy="545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Each objective is addressed through targeted SQL queries, analytical views, and structured data modeling — delivering actionable insights from raw e-commerce data.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854563"/>
            <a:ext cx="5534336" cy="37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Five strategic goals guiding this e-commerce analytics portfolio project.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33732"/>
            <a:ext cx="5534336" cy="89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9"/>
              </a:lnSpc>
            </a:pPr>
            <a:r>
              <a:rPr lang="en-US" sz="14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01  Measure overall sales performance</a:t>
            </a:r>
          </a:p>
          <a:p>
            <a:pPr marL="0" lvl="0" indent="0" algn="l">
              <a:lnSpc>
                <a:spcPts val="1359"/>
              </a:lnSpc>
            </a:pPr>
            <a:r>
              <a:rPr lang="en-US" sz="14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02  Identify top customers and products</a:t>
            </a:r>
          </a:p>
          <a:p>
            <a:pPr marL="0" lvl="0" indent="0" algn="l">
              <a:lnSpc>
                <a:spcPts val="1359"/>
              </a:lnSpc>
            </a:pPr>
            <a:r>
              <a:rPr lang="en-US" sz="14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03  Analyze category &amp; department performance</a:t>
            </a:r>
          </a:p>
          <a:p>
            <a:pPr marL="0" lvl="0" indent="0" algn="l">
              <a:lnSpc>
                <a:spcPts val="1359"/>
              </a:lnSpc>
            </a:pPr>
            <a:r>
              <a:rPr lang="en-US" sz="14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04  Understand payment and order behavior</a:t>
            </a:r>
          </a:p>
          <a:p>
            <a:pPr marL="0" lvl="0" indent="0" algn="l">
              <a:lnSpc>
                <a:spcPts val="1359"/>
              </a:lnSpc>
            </a:pPr>
            <a:r>
              <a:rPr lang="en-US" sz="14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05  Support data-driven business decisions</a:t>
            </a:r>
          </a:p>
        </p:txBody>
      </p:sp>
      <p:sp>
        <p:nvSpPr>
          <p:cNvPr id="6" name="Freeform 6"/>
          <p:cNvSpPr/>
          <p:nvPr/>
        </p:nvSpPr>
        <p:spPr>
          <a:xfrm>
            <a:off x="9565927" y="-3886792"/>
            <a:ext cx="7685689" cy="15887730"/>
          </a:xfrm>
          <a:custGeom>
            <a:avLst/>
            <a:gdLst/>
            <a:ahLst/>
            <a:cxnLst/>
            <a:rect l="l" t="t" r="r" b="b"/>
            <a:pathLst>
              <a:path w="7685689" h="15887730">
                <a:moveTo>
                  <a:pt x="0" y="0"/>
                </a:moveTo>
                <a:lnTo>
                  <a:pt x="7685689" y="0"/>
                </a:lnTo>
                <a:lnTo>
                  <a:pt x="7685689" y="15887729"/>
                </a:lnTo>
                <a:lnTo>
                  <a:pt x="0" y="158877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63804" y="3703881"/>
            <a:ext cx="8107320" cy="325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79"/>
              </a:lnSpc>
            </a:pPr>
            <a:r>
              <a:rPr lang="en-US" sz="11221" b="1" spc="-561">
                <a:solidFill>
                  <a:srgbClr val="FAFAFA"/>
                </a:solidFill>
                <a:latin typeface="Aileron Bold"/>
                <a:ea typeface="Aileron Bold"/>
                <a:cs typeface="Aileron Bold"/>
                <a:sym typeface="Aileron Bold"/>
              </a:rPr>
              <a:t>DATASET</a:t>
            </a:r>
          </a:p>
          <a:p>
            <a:pPr marL="0" lvl="0" indent="0" algn="l">
              <a:lnSpc>
                <a:spcPts val="8079"/>
              </a:lnSpc>
            </a:pPr>
            <a:r>
              <a:rPr lang="en-US" sz="11221" b="1" spc="-561">
                <a:solidFill>
                  <a:srgbClr val="FAFAFA"/>
                </a:solidFill>
                <a:latin typeface="Aileron Bold"/>
                <a:ea typeface="Aileron Bold"/>
                <a:cs typeface="Aileron Bold"/>
                <a:sym typeface="Aileron Bold"/>
              </a:rPr>
              <a:t>AT A GLANCE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363804" y="1047750"/>
            <a:ext cx="7003770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 comprehensive relational e-commerce database built in MySQL — designed to simulate real-world sales, customer, and product analytics at scale.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104343" y="8207756"/>
            <a:ext cx="3709830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Each metric represents a core table in the relational schema — powering 20+ analytical SQL queries and reusable reporting views.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047750"/>
            <a:ext cx="5555178" cy="87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500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Customers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50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Categories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1,000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Products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63804" y="8298477"/>
            <a:ext cx="3060513" cy="95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5,000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Orders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15,000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Order Items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5,000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Payments</a:t>
            </a:r>
          </a:p>
        </p:txBody>
      </p:sp>
      <p:sp>
        <p:nvSpPr>
          <p:cNvPr id="7" name="Freeform 7"/>
          <p:cNvSpPr/>
          <p:nvPr/>
        </p:nvSpPr>
        <p:spPr>
          <a:xfrm>
            <a:off x="1416572" y="3619878"/>
            <a:ext cx="6504935" cy="5423490"/>
          </a:xfrm>
          <a:custGeom>
            <a:avLst/>
            <a:gdLst/>
            <a:ahLst/>
            <a:cxnLst/>
            <a:rect l="l" t="t" r="r" b="b"/>
            <a:pathLst>
              <a:path w="6504935" h="5423490">
                <a:moveTo>
                  <a:pt x="0" y="0"/>
                </a:moveTo>
                <a:lnTo>
                  <a:pt x="6504936" y="0"/>
                </a:lnTo>
                <a:lnTo>
                  <a:pt x="6504936" y="5423490"/>
                </a:lnTo>
                <a:lnTo>
                  <a:pt x="0" y="5423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63804" y="5543550"/>
            <a:ext cx="7875158" cy="1743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33"/>
              </a:lnSpc>
            </a:pPr>
            <a:r>
              <a:rPr lang="en-US" sz="8796" b="1" spc="-439">
                <a:solidFill>
                  <a:srgbClr val="FAFAFA"/>
                </a:solidFill>
                <a:latin typeface="Aileron Bold"/>
                <a:ea typeface="Aileron Bold"/>
                <a:cs typeface="Aileron Bold"/>
                <a:sym typeface="Aileron Bold"/>
              </a:rPr>
              <a:t>DATABASE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363804" y="3524250"/>
            <a:ext cx="7003770" cy="545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Six relational tables form the core of this e-commerce data model, connected by primary and foreign key relationships to enable powerful cross-table analytics.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599462" y="8369681"/>
            <a:ext cx="5481590" cy="71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CUSTOMERS → ORDERS → ORDER_ITEMS → PRODUCTS → CATEGORIES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ORDERS → PAYMENTS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Blue lines: primary flow  |  Teal lines: payment branch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63804" y="1038225"/>
            <a:ext cx="3108416" cy="71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CUSTOMERS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customer_id (PK)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customer_name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email, city, state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56778" y="1038225"/>
            <a:ext cx="3108416" cy="71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ORDERS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order_id (PK)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customer_id (FK)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order_date, status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63804" y="8369681"/>
            <a:ext cx="2696679" cy="71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ORDER_ITEMS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PRODUCTS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CATEGORIES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PAYMENTS</a:t>
            </a:r>
          </a:p>
        </p:txBody>
      </p:sp>
      <p:sp>
        <p:nvSpPr>
          <p:cNvPr id="8" name="Freeform 8"/>
          <p:cNvSpPr/>
          <p:nvPr/>
        </p:nvSpPr>
        <p:spPr>
          <a:xfrm>
            <a:off x="899181" y="930619"/>
            <a:ext cx="7830670" cy="6890990"/>
          </a:xfrm>
          <a:custGeom>
            <a:avLst/>
            <a:gdLst/>
            <a:ahLst/>
            <a:cxnLst/>
            <a:rect l="l" t="t" r="r" b="b"/>
            <a:pathLst>
              <a:path w="7830670" h="6890990">
                <a:moveTo>
                  <a:pt x="0" y="0"/>
                </a:moveTo>
                <a:lnTo>
                  <a:pt x="7830671" y="0"/>
                </a:lnTo>
                <a:lnTo>
                  <a:pt x="7830671" y="6890990"/>
                </a:lnTo>
                <a:lnTo>
                  <a:pt x="0" y="6890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277540"/>
            <a:ext cx="8899454" cy="6809310"/>
            <a:chOff x="0" y="0"/>
            <a:chExt cx="2343889" cy="17933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3889" cy="1793398"/>
            </a:xfrm>
            <a:custGeom>
              <a:avLst/>
              <a:gdLst/>
              <a:ahLst/>
              <a:cxnLst/>
              <a:rect l="l" t="t" r="r" b="b"/>
              <a:pathLst>
                <a:path w="2343889" h="1793398">
                  <a:moveTo>
                    <a:pt x="0" y="0"/>
                  </a:moveTo>
                  <a:lnTo>
                    <a:pt x="2343889" y="0"/>
                  </a:lnTo>
                  <a:lnTo>
                    <a:pt x="2343889" y="1793398"/>
                  </a:lnTo>
                  <a:lnTo>
                    <a:pt x="0" y="1793398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2343889" cy="178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5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392007" y="2527682"/>
            <a:ext cx="8396084" cy="6255469"/>
          </a:xfrm>
          <a:custGeom>
            <a:avLst/>
            <a:gdLst/>
            <a:ahLst/>
            <a:cxnLst/>
            <a:rect l="l" t="t" r="r" b="b"/>
            <a:pathLst>
              <a:path w="8396084" h="6255469">
                <a:moveTo>
                  <a:pt x="0" y="0"/>
                </a:moveTo>
                <a:lnTo>
                  <a:pt x="8396084" y="0"/>
                </a:lnTo>
                <a:lnTo>
                  <a:pt x="8396084" y="6255468"/>
                </a:lnTo>
                <a:lnTo>
                  <a:pt x="0" y="6255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25" r="-893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28700" y="2956307"/>
            <a:ext cx="7979245" cy="275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39"/>
              </a:lnSpc>
            </a:pPr>
            <a:r>
              <a:rPr lang="en-US" sz="8000" b="1" spc="-474" dirty="0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ENTITY</a:t>
            </a:r>
            <a:r>
              <a:rPr lang="en-US" sz="8800" b="1" spc="-474" dirty="0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 RELATIONSHIP DIAGRAM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038225"/>
            <a:ext cx="7003770" cy="37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Visual representation of the relational database schema. Replace the placeholder below with the actual MySQL Workbench ER Diagram screenshot.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253761"/>
            <a:ext cx="4754504" cy="545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Tables: CUSTOMERS · ORDERS · ORDER_ITEMS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PRODUCTS · CATEGORIES · PAYMENTS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Source: MySQL Workbench Schema Designer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499830"/>
            <a:ext cx="7891553" cy="5287341"/>
          </a:xfrm>
          <a:custGeom>
            <a:avLst/>
            <a:gdLst/>
            <a:ahLst/>
            <a:cxnLst/>
            <a:rect l="l" t="t" r="r" b="b"/>
            <a:pathLst>
              <a:path w="7891553" h="5287341">
                <a:moveTo>
                  <a:pt x="0" y="0"/>
                </a:moveTo>
                <a:lnTo>
                  <a:pt x="7891553" y="0"/>
                </a:lnTo>
                <a:lnTo>
                  <a:pt x="7891553" y="5287340"/>
                </a:lnTo>
                <a:lnTo>
                  <a:pt x="0" y="5287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9363804" y="3684831"/>
            <a:ext cx="8107320" cy="309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5"/>
              </a:lnSpc>
            </a:pPr>
            <a:r>
              <a:rPr lang="en-US" sz="10687" b="1" spc="-534">
                <a:solidFill>
                  <a:srgbClr val="FAFAFA"/>
                </a:solidFill>
                <a:latin typeface="Aileron Bold"/>
                <a:ea typeface="Aileron Bold"/>
                <a:cs typeface="Aileron Bold"/>
                <a:sym typeface="Aileron Bold"/>
              </a:rPr>
              <a:t>SQL</a:t>
            </a:r>
          </a:p>
          <a:p>
            <a:pPr marL="0" lvl="0" indent="0" algn="l">
              <a:lnSpc>
                <a:spcPts val="7695"/>
              </a:lnSpc>
            </a:pPr>
            <a:r>
              <a:rPr lang="en-US" sz="10687" b="1" spc="-534">
                <a:solidFill>
                  <a:srgbClr val="FAFAFA"/>
                </a:solidFill>
                <a:latin typeface="Aileron Bold"/>
                <a:ea typeface="Aileron Bold"/>
                <a:cs typeface="Aileron Bold"/>
                <a:sym typeface="Aileron Bold"/>
              </a:rPr>
              <a:t>TECHNIQUES</a:t>
            </a:r>
          </a:p>
          <a:p>
            <a:pPr marL="0" lvl="0" indent="0" algn="l">
              <a:lnSpc>
                <a:spcPts val="7695"/>
              </a:lnSpc>
            </a:pPr>
            <a:r>
              <a:rPr lang="en-US" sz="10687" b="1" spc="-534">
                <a:solidFill>
                  <a:srgbClr val="FAFAFA"/>
                </a:solidFill>
                <a:latin typeface="Aileron Bold"/>
                <a:ea typeface="Aileron Bold"/>
                <a:cs typeface="Aileron Bold"/>
                <a:sym typeface="Aileron Bold"/>
              </a:rPr>
              <a:t>USED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63804" y="1047750"/>
            <a:ext cx="7003770" cy="476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71"/>
              </a:lnSpc>
            </a:pPr>
            <a:r>
              <a:rPr lang="en-US" sz="131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 comprehensive set of SQL techniques was applied throughout this project to extract, transform, and analyze e-commerce data — from basic queries to advanced window functions and reusable views.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104343" y="8207756"/>
            <a:ext cx="3709830" cy="93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71"/>
              </a:lnSpc>
            </a:pPr>
            <a:r>
              <a:rPr lang="en-US" sz="131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Window functions like DENSE_RANK() and ROW_NUMBER() enable advanced ranking and segmentation. CTEs improve query modularity and readability. Reusable views streamline repeated analytical queries across the project.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47750"/>
            <a:ext cx="5555178" cy="93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71"/>
              </a:lnSpc>
            </a:pPr>
            <a:r>
              <a:rPr lang="en-US" sz="131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Core Techniques</a:t>
            </a:r>
          </a:p>
          <a:p>
            <a:pPr marL="0" lvl="0" indent="0" algn="l">
              <a:lnSpc>
                <a:spcPts val="1271"/>
              </a:lnSpc>
            </a:pPr>
            <a:r>
              <a:rPr lang="en-US" sz="131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─────────────</a:t>
            </a:r>
          </a:p>
          <a:p>
            <a:pPr marL="0" lvl="0" indent="0" algn="l">
              <a:lnSpc>
                <a:spcPts val="1271"/>
              </a:lnSpc>
            </a:pPr>
            <a:r>
              <a:rPr lang="en-US" sz="131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SELECT  •  JOIN</a:t>
            </a:r>
          </a:p>
          <a:p>
            <a:pPr marL="0" lvl="0" indent="0" algn="l">
              <a:lnSpc>
                <a:spcPts val="1271"/>
              </a:lnSpc>
            </a:pPr>
            <a:r>
              <a:rPr lang="en-US" sz="131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GROUP BY  •  HAVING</a:t>
            </a:r>
          </a:p>
          <a:p>
            <a:pPr marL="0" lvl="0" indent="0" algn="l">
              <a:lnSpc>
                <a:spcPts val="1271"/>
              </a:lnSpc>
            </a:pPr>
            <a:r>
              <a:rPr lang="en-US" sz="131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Aggregate Functions</a:t>
            </a:r>
          </a:p>
          <a:p>
            <a:pPr marL="0" lvl="0" indent="0" algn="l">
              <a:lnSpc>
                <a:spcPts val="1271"/>
              </a:lnSpc>
            </a:pPr>
            <a:r>
              <a:rPr lang="en-US" sz="131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CASE Statements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63804" y="8288952"/>
            <a:ext cx="3060513" cy="86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86"/>
              </a:lnSpc>
            </a:pPr>
            <a:r>
              <a:rPr lang="en-US" sz="142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Advanced Techniques:</a:t>
            </a:r>
          </a:p>
          <a:p>
            <a:pPr marL="0" lvl="0" indent="0" algn="l">
              <a:lnSpc>
                <a:spcPts val="1386"/>
              </a:lnSpc>
            </a:pPr>
            <a:r>
              <a:rPr lang="en-US" sz="142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CTE (Common Table Expressions)</a:t>
            </a:r>
          </a:p>
          <a:p>
            <a:pPr marL="0" lvl="0" indent="0" algn="l">
              <a:lnSpc>
                <a:spcPts val="1386"/>
              </a:lnSpc>
            </a:pPr>
            <a:r>
              <a:rPr lang="en-US" sz="142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Window Functions</a:t>
            </a:r>
          </a:p>
          <a:p>
            <a:pPr marL="0" lvl="0" indent="0" algn="l">
              <a:lnSpc>
                <a:spcPts val="1386"/>
              </a:lnSpc>
            </a:pPr>
            <a:r>
              <a:rPr lang="en-US" sz="142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DENSE_RANK  •  ROW_NUMBER</a:t>
            </a:r>
          </a:p>
          <a:p>
            <a:pPr marL="0" lvl="0" indent="0" algn="l">
              <a:lnSpc>
                <a:spcPts val="1386"/>
              </a:lnSpc>
            </a:pPr>
            <a:r>
              <a:rPr lang="en-US" sz="142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Subqueries  •  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509589"/>
            <a:ext cx="7929860" cy="188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34"/>
              </a:lnSpc>
            </a:pPr>
            <a:r>
              <a:rPr lang="en-US" sz="9492" b="1" spc="-474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KEY BUSINESS</a:t>
            </a:r>
          </a:p>
          <a:p>
            <a:pPr marL="0" lvl="0" indent="0" algn="l">
              <a:lnSpc>
                <a:spcPts val="6834"/>
              </a:lnSpc>
            </a:pPr>
            <a:r>
              <a:rPr lang="en-US" sz="9492" b="1" spc="-474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QUESTIONS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763647"/>
            <a:ext cx="7003770" cy="101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❹  Who are the highest-value customers?</a:t>
            </a:r>
          </a:p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❺  Which cities generate the most revenue?</a:t>
            </a:r>
          </a:p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❻  What is the monthly revenue trend?</a:t>
            </a:r>
          </a:p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❼  Which payment methods perform best?</a:t>
            </a:r>
          </a:p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❽  Which products are low in stock?</a:t>
            </a:r>
          </a:p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❾  Which customers place the most orders?</a:t>
            </a:r>
          </a:p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❿  How do discounts affect sales volume?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864088"/>
            <a:ext cx="5534336" cy="301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Critical questions this project answers using SQL analytics and reusable views.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43257"/>
            <a:ext cx="5534336" cy="67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02"/>
              </a:lnSpc>
            </a:pPr>
            <a:r>
              <a:rPr lang="en-US" sz="1755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❶  What is the total revenue generated?</a:t>
            </a:r>
          </a:p>
          <a:p>
            <a:pPr marL="0" lvl="0" indent="0" algn="l">
              <a:lnSpc>
                <a:spcPts val="1702"/>
              </a:lnSpc>
            </a:pPr>
            <a:r>
              <a:rPr lang="en-US" sz="1755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❷  Which products generate the highest revenue?</a:t>
            </a:r>
          </a:p>
          <a:p>
            <a:pPr marL="0" lvl="0" indent="0" algn="l">
              <a:lnSpc>
                <a:spcPts val="1702"/>
              </a:lnSpc>
            </a:pPr>
            <a:r>
              <a:rPr lang="en-US" sz="1755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❸  Which categories perform best overall?</a:t>
            </a:r>
          </a:p>
        </p:txBody>
      </p:sp>
      <p:sp>
        <p:nvSpPr>
          <p:cNvPr id="6" name="Freeform 6"/>
          <p:cNvSpPr/>
          <p:nvPr/>
        </p:nvSpPr>
        <p:spPr>
          <a:xfrm>
            <a:off x="9164400" y="1155472"/>
            <a:ext cx="8492764" cy="7452401"/>
          </a:xfrm>
          <a:custGeom>
            <a:avLst/>
            <a:gdLst/>
            <a:ahLst/>
            <a:cxnLst/>
            <a:rect l="l" t="t" r="r" b="b"/>
            <a:pathLst>
              <a:path w="8492764" h="7452401">
                <a:moveTo>
                  <a:pt x="0" y="0"/>
                </a:moveTo>
                <a:lnTo>
                  <a:pt x="8492764" y="0"/>
                </a:lnTo>
                <a:lnTo>
                  <a:pt x="8492764" y="7452401"/>
                </a:lnTo>
                <a:lnTo>
                  <a:pt x="0" y="7452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85632" y="2830774"/>
            <a:ext cx="9044413" cy="5932670"/>
            <a:chOff x="0" y="0"/>
            <a:chExt cx="2382068" cy="15625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2068" cy="1562514"/>
            </a:xfrm>
            <a:custGeom>
              <a:avLst/>
              <a:gdLst/>
              <a:ahLst/>
              <a:cxnLst/>
              <a:rect l="l" t="t" r="r" b="b"/>
              <a:pathLst>
                <a:path w="2382068" h="1562514">
                  <a:moveTo>
                    <a:pt x="9416" y="0"/>
                  </a:moveTo>
                  <a:lnTo>
                    <a:pt x="2372652" y="0"/>
                  </a:lnTo>
                  <a:cubicBezTo>
                    <a:pt x="2375149" y="0"/>
                    <a:pt x="2377544" y="992"/>
                    <a:pt x="2379310" y="2758"/>
                  </a:cubicBezTo>
                  <a:cubicBezTo>
                    <a:pt x="2381076" y="4524"/>
                    <a:pt x="2382068" y="6919"/>
                    <a:pt x="2382068" y="9416"/>
                  </a:cubicBezTo>
                  <a:lnTo>
                    <a:pt x="2382068" y="1553098"/>
                  </a:lnTo>
                  <a:cubicBezTo>
                    <a:pt x="2382068" y="1555595"/>
                    <a:pt x="2381076" y="1557990"/>
                    <a:pt x="2379310" y="1559756"/>
                  </a:cubicBezTo>
                  <a:cubicBezTo>
                    <a:pt x="2377544" y="1561522"/>
                    <a:pt x="2375149" y="1562514"/>
                    <a:pt x="2372652" y="1562514"/>
                  </a:cubicBezTo>
                  <a:lnTo>
                    <a:pt x="9416" y="1562514"/>
                  </a:lnTo>
                  <a:cubicBezTo>
                    <a:pt x="6919" y="1562514"/>
                    <a:pt x="4524" y="1561522"/>
                    <a:pt x="2758" y="1559756"/>
                  </a:cubicBezTo>
                  <a:cubicBezTo>
                    <a:pt x="992" y="1557990"/>
                    <a:pt x="0" y="1555595"/>
                    <a:pt x="0" y="1553098"/>
                  </a:cubicBezTo>
                  <a:lnTo>
                    <a:pt x="0" y="9416"/>
                  </a:lnTo>
                  <a:cubicBezTo>
                    <a:pt x="0" y="6919"/>
                    <a:pt x="992" y="4524"/>
                    <a:pt x="2758" y="2758"/>
                  </a:cubicBezTo>
                  <a:cubicBezTo>
                    <a:pt x="4524" y="992"/>
                    <a:pt x="6919" y="0"/>
                    <a:pt x="94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82068" cy="1619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981224" y="5143500"/>
            <a:ext cx="2604383" cy="2343945"/>
          </a:xfrm>
          <a:custGeom>
            <a:avLst/>
            <a:gdLst/>
            <a:ahLst/>
            <a:cxnLst/>
            <a:rect l="l" t="t" r="r" b="b"/>
            <a:pathLst>
              <a:path w="2604383" h="2343945">
                <a:moveTo>
                  <a:pt x="0" y="0"/>
                </a:moveTo>
                <a:lnTo>
                  <a:pt x="2604383" y="0"/>
                </a:lnTo>
                <a:lnTo>
                  <a:pt x="2604383" y="2343945"/>
                </a:lnTo>
                <a:lnTo>
                  <a:pt x="0" y="2343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9007945" y="3065682"/>
            <a:ext cx="8571958" cy="5335443"/>
          </a:xfrm>
          <a:custGeom>
            <a:avLst/>
            <a:gdLst/>
            <a:ahLst/>
            <a:cxnLst/>
            <a:rect l="l" t="t" r="r" b="b"/>
            <a:pathLst>
              <a:path w="8571958" h="5335443">
                <a:moveTo>
                  <a:pt x="0" y="0"/>
                </a:moveTo>
                <a:lnTo>
                  <a:pt x="8571958" y="0"/>
                </a:lnTo>
                <a:lnTo>
                  <a:pt x="8571958" y="5335443"/>
                </a:lnTo>
                <a:lnTo>
                  <a:pt x="0" y="5335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893724"/>
            <a:ext cx="7979245" cy="277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</a:pPr>
            <a:r>
              <a:rPr lang="en-US" sz="2526" b="1" spc="-126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QUERY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190625"/>
            <a:ext cx="7003770" cy="15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• ORDER BY revenue DESC • LIMIT 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162550"/>
            <a:ext cx="3367191" cy="1444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product_id,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product_name,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category_name,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department,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total_revenue,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total_units_sold,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total_orders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vw_product_performance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total_revenue DESC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LIMIT 10;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550656"/>
            <a:ext cx="475450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Business Insight: Identifies the highest revenue-generating products — critical for inventory prioritization, marketing focus, and strategic product decisions.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521475"/>
            <a:ext cx="7979245" cy="2094795"/>
          </a:xfrm>
          <a:prstGeom prst="rect">
            <a:avLst/>
          </a:prstGeom>
        </p:spPr>
        <p:txBody>
          <a:bodyPr lIns="0" tIns="72000" rIns="0" bIns="0" rtlCol="0" anchor="t">
            <a:normAutofit/>
          </a:bodyPr>
          <a:lstStyle/>
          <a:p>
            <a:pPr marL="0" lvl="0" indent="0" algn="l">
              <a:lnSpc>
                <a:spcPts val="3800"/>
              </a:lnSpc>
              <a:spcBef>
                <a:spcPct val="0"/>
              </a:spcBef>
            </a:pPr>
            <a:r>
              <a:rPr lang="en-US" sz="6600" b="1" u="none" strike="noStrike" spc="-263" dirty="0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TOP 10 PRODUCTS </a:t>
            </a:r>
          </a:p>
          <a:p>
            <a:pPr marL="0" lvl="0" indent="0" algn="l">
              <a:lnSpc>
                <a:spcPts val="3800"/>
              </a:lnSpc>
              <a:spcBef>
                <a:spcPct val="0"/>
              </a:spcBef>
            </a:pPr>
            <a:r>
              <a:rPr lang="en-US" sz="6600" b="1" u="none" strike="noStrike" spc="-263" dirty="0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BY REVENUE USING ANALYTICAL VIEW</a:t>
            </a:r>
          </a:p>
          <a:p>
            <a:pPr marL="0" lvl="0" indent="0" algn="l">
              <a:lnSpc>
                <a:spcPts val="3800"/>
              </a:lnSpc>
              <a:spcBef>
                <a:spcPct val="0"/>
              </a:spcBef>
            </a:pPr>
            <a:endParaRPr lang="en-US" sz="6600" b="1" u="none" strike="noStrike" spc="-263" dirty="0">
              <a:solidFill>
                <a:srgbClr val="2A3B4C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45869" y="2769452"/>
            <a:ext cx="7213431" cy="5993993"/>
            <a:chOff x="0" y="0"/>
            <a:chExt cx="1899834" cy="1578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99834" cy="1578665"/>
            </a:xfrm>
            <a:custGeom>
              <a:avLst/>
              <a:gdLst/>
              <a:ahLst/>
              <a:cxnLst/>
              <a:rect l="l" t="t" r="r" b="b"/>
              <a:pathLst>
                <a:path w="1899834" h="1578665">
                  <a:moveTo>
                    <a:pt x="11806" y="0"/>
                  </a:moveTo>
                  <a:lnTo>
                    <a:pt x="1888028" y="0"/>
                  </a:lnTo>
                  <a:cubicBezTo>
                    <a:pt x="1894548" y="0"/>
                    <a:pt x="1899834" y="5286"/>
                    <a:pt x="1899834" y="11806"/>
                  </a:cubicBezTo>
                  <a:lnTo>
                    <a:pt x="1899834" y="1566859"/>
                  </a:lnTo>
                  <a:cubicBezTo>
                    <a:pt x="1899834" y="1569990"/>
                    <a:pt x="1898590" y="1572993"/>
                    <a:pt x="1896376" y="1575207"/>
                  </a:cubicBezTo>
                  <a:cubicBezTo>
                    <a:pt x="1894162" y="1577421"/>
                    <a:pt x="1891159" y="1578665"/>
                    <a:pt x="1888028" y="1578665"/>
                  </a:cubicBezTo>
                  <a:lnTo>
                    <a:pt x="11806" y="1578665"/>
                  </a:lnTo>
                  <a:cubicBezTo>
                    <a:pt x="5286" y="1578665"/>
                    <a:pt x="0" y="1573379"/>
                    <a:pt x="0" y="1566859"/>
                  </a:cubicBezTo>
                  <a:lnTo>
                    <a:pt x="0" y="11806"/>
                  </a:lnTo>
                  <a:cubicBezTo>
                    <a:pt x="0" y="5286"/>
                    <a:pt x="5286" y="0"/>
                    <a:pt x="118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99834" cy="1635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908582" y="2993716"/>
            <a:ext cx="2050934" cy="1056231"/>
          </a:xfrm>
          <a:custGeom>
            <a:avLst/>
            <a:gdLst/>
            <a:ahLst/>
            <a:cxnLst/>
            <a:rect l="l" t="t" r="r" b="b"/>
            <a:pathLst>
              <a:path w="2050934" h="1056231">
                <a:moveTo>
                  <a:pt x="0" y="0"/>
                </a:moveTo>
                <a:lnTo>
                  <a:pt x="2050934" y="0"/>
                </a:lnTo>
                <a:lnTo>
                  <a:pt x="2050934" y="1056231"/>
                </a:lnTo>
                <a:lnTo>
                  <a:pt x="0" y="1056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0300324" y="3091249"/>
            <a:ext cx="6704521" cy="5311161"/>
          </a:xfrm>
          <a:custGeom>
            <a:avLst/>
            <a:gdLst/>
            <a:ahLst/>
            <a:cxnLst/>
            <a:rect l="l" t="t" r="r" b="b"/>
            <a:pathLst>
              <a:path w="6704521" h="5311161">
                <a:moveTo>
                  <a:pt x="0" y="0"/>
                </a:moveTo>
                <a:lnTo>
                  <a:pt x="6704521" y="0"/>
                </a:lnTo>
                <a:lnTo>
                  <a:pt x="6704521" y="5311162"/>
                </a:lnTo>
                <a:lnTo>
                  <a:pt x="0" y="5311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1412351"/>
            <a:ext cx="7003770" cy="171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60"/>
              </a:lnSpc>
            </a:pPr>
            <a:r>
              <a:rPr lang="en-US" sz="1299" b="1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•  JOIN + GROUP BY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153797"/>
            <a:ext cx="3367191" cy="3851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c.category_name,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c.department,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COUNT(DISTINCT o.order_id)</a:t>
            </a:r>
          </a:p>
          <a:p>
            <a:pPr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AS totaSUM(oi.quantity)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l_orders,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AS units_sold,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ROUND(SUM(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oi.quantity * oi.unit_price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* (1 - oi.discount_pct/100)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), 2) AS total_revenue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order_items oi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products p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ON oi.product_id = p.product_id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categories c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ON p.category_id = c.category_id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orders o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ON oi.order_id = o.order_id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WHERE o.order_status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!= 'Cancelled'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c.category_name,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c.department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total_revenue DESC;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8200" y="2104312"/>
            <a:ext cx="7979245" cy="323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20"/>
              </a:lnSpc>
            </a:pPr>
            <a:r>
              <a:rPr lang="en-US" sz="11500" b="1" spc="-570" dirty="0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REVENUE BY</a:t>
            </a:r>
          </a:p>
          <a:p>
            <a:pPr marL="0" lvl="0" indent="0" algn="l">
              <a:lnSpc>
                <a:spcPts val="8220"/>
              </a:lnSpc>
            </a:pPr>
            <a:r>
              <a:rPr lang="en-US" sz="11500" b="1" spc="-570" dirty="0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CATEGORY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277350"/>
            <a:ext cx="4754504" cy="587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💡 Business Insight: Highlights best-performing product categories driving the most sales revenue — enabling focused inventory, marketing, and budget allocation by category and department.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1660319" y="944828"/>
            <a:ext cx="7003770" cy="448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1"/>
              </a:lnSpc>
              <a:spcBef>
                <a:spcPct val="0"/>
              </a:spcBef>
            </a:pPr>
            <a:r>
              <a:rPr lang="en-US" sz="2593" b="1" spc="-12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QUERY 2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89248" y="2769452"/>
            <a:ext cx="8683011" cy="5993993"/>
            <a:chOff x="0" y="0"/>
            <a:chExt cx="2286884" cy="1578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884" cy="1578665"/>
            </a:xfrm>
            <a:custGeom>
              <a:avLst/>
              <a:gdLst/>
              <a:ahLst/>
              <a:cxnLst/>
              <a:rect l="l" t="t" r="r" b="b"/>
              <a:pathLst>
                <a:path w="2286884" h="1578665">
                  <a:moveTo>
                    <a:pt x="9808" y="0"/>
                  </a:moveTo>
                  <a:lnTo>
                    <a:pt x="2277076" y="0"/>
                  </a:lnTo>
                  <a:cubicBezTo>
                    <a:pt x="2279677" y="0"/>
                    <a:pt x="2282172" y="1033"/>
                    <a:pt x="2284011" y="2873"/>
                  </a:cubicBezTo>
                  <a:cubicBezTo>
                    <a:pt x="2285850" y="4712"/>
                    <a:pt x="2286884" y="7207"/>
                    <a:pt x="2286884" y="9808"/>
                  </a:cubicBezTo>
                  <a:lnTo>
                    <a:pt x="2286884" y="1568857"/>
                  </a:lnTo>
                  <a:cubicBezTo>
                    <a:pt x="2286884" y="1574274"/>
                    <a:pt x="2282493" y="1578665"/>
                    <a:pt x="2277076" y="1578665"/>
                  </a:cubicBezTo>
                  <a:lnTo>
                    <a:pt x="9808" y="1578665"/>
                  </a:lnTo>
                  <a:cubicBezTo>
                    <a:pt x="7207" y="1578665"/>
                    <a:pt x="4712" y="1577631"/>
                    <a:pt x="2873" y="1575792"/>
                  </a:cubicBezTo>
                  <a:cubicBezTo>
                    <a:pt x="1033" y="1573953"/>
                    <a:pt x="0" y="1571458"/>
                    <a:pt x="0" y="1568857"/>
                  </a:cubicBezTo>
                  <a:lnTo>
                    <a:pt x="0" y="9808"/>
                  </a:lnTo>
                  <a:cubicBezTo>
                    <a:pt x="0" y="7207"/>
                    <a:pt x="1033" y="4712"/>
                    <a:pt x="2873" y="2873"/>
                  </a:cubicBezTo>
                  <a:cubicBezTo>
                    <a:pt x="4712" y="1033"/>
                    <a:pt x="7207" y="0"/>
                    <a:pt x="980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86884" cy="1635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783204" y="5143500"/>
            <a:ext cx="3370338" cy="2477198"/>
          </a:xfrm>
          <a:custGeom>
            <a:avLst/>
            <a:gdLst/>
            <a:ahLst/>
            <a:cxnLst/>
            <a:rect l="l" t="t" r="r" b="b"/>
            <a:pathLst>
              <a:path w="3370338" h="2477198">
                <a:moveTo>
                  <a:pt x="0" y="0"/>
                </a:moveTo>
                <a:lnTo>
                  <a:pt x="3370338" y="0"/>
                </a:lnTo>
                <a:lnTo>
                  <a:pt x="3370338" y="2477198"/>
                </a:lnTo>
                <a:lnTo>
                  <a:pt x="0" y="2477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9630291" y="3102762"/>
            <a:ext cx="8200925" cy="5327373"/>
          </a:xfrm>
          <a:custGeom>
            <a:avLst/>
            <a:gdLst/>
            <a:ahLst/>
            <a:cxnLst/>
            <a:rect l="l" t="t" r="r" b="b"/>
            <a:pathLst>
              <a:path w="8200925" h="5327373">
                <a:moveTo>
                  <a:pt x="0" y="0"/>
                </a:moveTo>
                <a:lnTo>
                  <a:pt x="8200925" y="0"/>
                </a:lnTo>
                <a:lnTo>
                  <a:pt x="8200925" y="5327372"/>
                </a:lnTo>
                <a:lnTo>
                  <a:pt x="0" y="5327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2902739"/>
            <a:ext cx="7979245" cy="280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92"/>
              </a:lnSpc>
            </a:pPr>
            <a:r>
              <a:rPr lang="en-US" sz="7350" b="1" spc="-367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TOP 20 CUSTOMERS</a:t>
            </a:r>
          </a:p>
          <a:p>
            <a:pPr marL="0" lvl="0" indent="0" algn="l">
              <a:lnSpc>
                <a:spcPts val="5292"/>
              </a:lnSpc>
            </a:pPr>
            <a:r>
              <a:rPr lang="en-US" sz="7350" b="1" spc="-367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BY LIFETIME</a:t>
            </a:r>
          </a:p>
          <a:p>
            <a:pPr marL="0" lvl="0" indent="0" algn="l">
              <a:lnSpc>
                <a:spcPts val="5292"/>
              </a:lnSpc>
            </a:pPr>
            <a:r>
              <a:rPr lang="en-US" sz="7350" b="1" spc="-367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VALUE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775" y="1047750"/>
            <a:ext cx="7003770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SQL Query using vw_customer_value analytical view — ranked by total lifetime spend, descending order, limited to top 20 high-value customers.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617444"/>
            <a:ext cx="3367191" cy="1016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customer_id,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customer_name,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total_orders,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lifetime_value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vw_customer_value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lifetime_value DESC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LIMIT 20;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550656"/>
            <a:ext cx="4754504" cy="730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Business Insight: Pinpoints the most valuable customers for targeted retention strategies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Uses reusable analytical view: vw_customer_value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Ranked by lifetime value (total spend per customer)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Supports loyalty programs and VIP customer segmentation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2775" y="589053"/>
            <a:ext cx="1361825" cy="421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2"/>
              </a:lnSpc>
              <a:spcBef>
                <a:spcPct val="0"/>
              </a:spcBef>
            </a:pPr>
            <a:r>
              <a:rPr lang="en-US" sz="2566" b="1" spc="-12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QUERY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805834"/>
            <a:ext cx="8678898" cy="5993993"/>
            <a:chOff x="0" y="0"/>
            <a:chExt cx="2285800" cy="1578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5800" cy="1578665"/>
            </a:xfrm>
            <a:custGeom>
              <a:avLst/>
              <a:gdLst/>
              <a:ahLst/>
              <a:cxnLst/>
              <a:rect l="l" t="t" r="r" b="b"/>
              <a:pathLst>
                <a:path w="2285800" h="1578665">
                  <a:moveTo>
                    <a:pt x="9812" y="0"/>
                  </a:moveTo>
                  <a:lnTo>
                    <a:pt x="2275988" y="0"/>
                  </a:lnTo>
                  <a:cubicBezTo>
                    <a:pt x="2278590" y="0"/>
                    <a:pt x="2281086" y="1034"/>
                    <a:pt x="2282926" y="2874"/>
                  </a:cubicBezTo>
                  <a:cubicBezTo>
                    <a:pt x="2284767" y="4714"/>
                    <a:pt x="2285800" y="7210"/>
                    <a:pt x="2285800" y="9812"/>
                  </a:cubicBezTo>
                  <a:lnTo>
                    <a:pt x="2285800" y="1568852"/>
                  </a:lnTo>
                  <a:cubicBezTo>
                    <a:pt x="2285800" y="1574272"/>
                    <a:pt x="2281407" y="1578665"/>
                    <a:pt x="2275988" y="1578665"/>
                  </a:cubicBezTo>
                  <a:lnTo>
                    <a:pt x="9812" y="1578665"/>
                  </a:lnTo>
                  <a:cubicBezTo>
                    <a:pt x="7210" y="1578665"/>
                    <a:pt x="4714" y="1577631"/>
                    <a:pt x="2874" y="1575791"/>
                  </a:cubicBezTo>
                  <a:cubicBezTo>
                    <a:pt x="1034" y="1573951"/>
                    <a:pt x="0" y="1571455"/>
                    <a:pt x="0" y="1568852"/>
                  </a:cubicBezTo>
                  <a:lnTo>
                    <a:pt x="0" y="9812"/>
                  </a:lnTo>
                  <a:cubicBezTo>
                    <a:pt x="0" y="7210"/>
                    <a:pt x="1034" y="4714"/>
                    <a:pt x="2874" y="2874"/>
                  </a:cubicBezTo>
                  <a:cubicBezTo>
                    <a:pt x="4714" y="1034"/>
                    <a:pt x="7210" y="0"/>
                    <a:pt x="98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85800" cy="1635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728342" y="1862948"/>
            <a:ext cx="3279603" cy="1885772"/>
          </a:xfrm>
          <a:custGeom>
            <a:avLst/>
            <a:gdLst/>
            <a:ahLst/>
            <a:cxnLst/>
            <a:rect l="l" t="t" r="r" b="b"/>
            <a:pathLst>
              <a:path w="3279603" h="1885772">
                <a:moveTo>
                  <a:pt x="0" y="0"/>
                </a:moveTo>
                <a:lnTo>
                  <a:pt x="3279603" y="0"/>
                </a:lnTo>
                <a:lnTo>
                  <a:pt x="3279603" y="1885772"/>
                </a:lnTo>
                <a:lnTo>
                  <a:pt x="0" y="18857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9375671" y="3264434"/>
            <a:ext cx="8215557" cy="5076793"/>
          </a:xfrm>
          <a:custGeom>
            <a:avLst/>
            <a:gdLst/>
            <a:ahLst/>
            <a:cxnLst/>
            <a:rect l="l" t="t" r="r" b="b"/>
            <a:pathLst>
              <a:path w="8215557" h="5076793">
                <a:moveTo>
                  <a:pt x="0" y="0"/>
                </a:moveTo>
                <a:lnTo>
                  <a:pt x="8215556" y="0"/>
                </a:lnTo>
                <a:lnTo>
                  <a:pt x="8215556" y="5076793"/>
                </a:lnTo>
                <a:lnTo>
                  <a:pt x="0" y="5076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3131402"/>
            <a:ext cx="7979245" cy="159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7"/>
              </a:lnSpc>
            </a:pPr>
            <a:r>
              <a:rPr lang="en-US" sz="8065" b="1" spc="-483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MONTHLY REVENUE TREND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468427"/>
            <a:ext cx="7003770" cy="1159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DATE_FORMAT(o.order_date, '%Y-%m') AS revenue_month,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COUNT(DISTINCT o.order_id) AS total_orders,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SUM(oi.quantity * oi.unit_price * (1 - oi.discount_pct/100)) AS monthly_revenue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orders o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order_items oi ON o.order_id = oi.order_id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WHERE o.order_status != 'Cancelled'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 revenue_month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revenue_month ASC;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367868"/>
            <a:ext cx="3367191" cy="730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Business Insight: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Reveals sales seasonality and monthly growth trends. Helps identify peak revenue months and low-performing periods for strategic planning.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553300"/>
            <a:ext cx="4754504" cy="730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Techniques: DATE_FORMAT()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Aggregation: SUM(), COUNT()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Filtering: WHERE, order_status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Grouping: GROUP BY month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Sorting: ORDER BY ASC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085777"/>
            <a:ext cx="7979245" cy="448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1"/>
              </a:lnSpc>
              <a:spcBef>
                <a:spcPct val="0"/>
              </a:spcBef>
            </a:pPr>
            <a:r>
              <a:rPr lang="en-US" sz="2593" b="1" spc="-12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QUERY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08969" y="2769452"/>
            <a:ext cx="5212301" cy="5993993"/>
            <a:chOff x="0" y="0"/>
            <a:chExt cx="1372787" cy="1578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2787" cy="1578665"/>
            </a:xfrm>
            <a:custGeom>
              <a:avLst/>
              <a:gdLst/>
              <a:ahLst/>
              <a:cxnLst/>
              <a:rect l="l" t="t" r="r" b="b"/>
              <a:pathLst>
                <a:path w="1372787" h="1578665">
                  <a:moveTo>
                    <a:pt x="16338" y="0"/>
                  </a:moveTo>
                  <a:lnTo>
                    <a:pt x="1356449" y="0"/>
                  </a:lnTo>
                  <a:cubicBezTo>
                    <a:pt x="1365472" y="0"/>
                    <a:pt x="1372787" y="7315"/>
                    <a:pt x="1372787" y="16338"/>
                  </a:cubicBezTo>
                  <a:lnTo>
                    <a:pt x="1372787" y="1562326"/>
                  </a:lnTo>
                  <a:cubicBezTo>
                    <a:pt x="1372787" y="1566659"/>
                    <a:pt x="1371066" y="1570815"/>
                    <a:pt x="1368002" y="1573879"/>
                  </a:cubicBezTo>
                  <a:cubicBezTo>
                    <a:pt x="1364938" y="1576943"/>
                    <a:pt x="1360782" y="1578665"/>
                    <a:pt x="1356449" y="1578665"/>
                  </a:cubicBezTo>
                  <a:lnTo>
                    <a:pt x="16338" y="1578665"/>
                  </a:lnTo>
                  <a:cubicBezTo>
                    <a:pt x="7315" y="1578665"/>
                    <a:pt x="0" y="1571350"/>
                    <a:pt x="0" y="1562326"/>
                  </a:cubicBezTo>
                  <a:lnTo>
                    <a:pt x="0" y="16338"/>
                  </a:lnTo>
                  <a:cubicBezTo>
                    <a:pt x="0" y="7315"/>
                    <a:pt x="7315" y="0"/>
                    <a:pt x="1633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72787" cy="1635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530585" y="3646377"/>
            <a:ext cx="3625323" cy="4240143"/>
          </a:xfrm>
          <a:custGeom>
            <a:avLst/>
            <a:gdLst/>
            <a:ahLst/>
            <a:cxnLst/>
            <a:rect l="l" t="t" r="r" b="b"/>
            <a:pathLst>
              <a:path w="3625323" h="4240143">
                <a:moveTo>
                  <a:pt x="0" y="0"/>
                </a:moveTo>
                <a:lnTo>
                  <a:pt x="3625323" y="0"/>
                </a:lnTo>
                <a:lnTo>
                  <a:pt x="3625323" y="4240143"/>
                </a:lnTo>
                <a:lnTo>
                  <a:pt x="0" y="4240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1476617" y="3114938"/>
            <a:ext cx="4477005" cy="5303020"/>
          </a:xfrm>
          <a:custGeom>
            <a:avLst/>
            <a:gdLst/>
            <a:ahLst/>
            <a:cxnLst/>
            <a:rect l="l" t="t" r="r" b="b"/>
            <a:pathLst>
              <a:path w="4477005" h="5303020">
                <a:moveTo>
                  <a:pt x="0" y="0"/>
                </a:moveTo>
                <a:lnTo>
                  <a:pt x="4477005" y="0"/>
                </a:lnTo>
                <a:lnTo>
                  <a:pt x="4477005" y="5303020"/>
                </a:lnTo>
                <a:lnTo>
                  <a:pt x="0" y="5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1133475"/>
            <a:ext cx="7979245" cy="277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</a:pPr>
            <a:r>
              <a:rPr lang="en-US" sz="2526" b="1" spc="-126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QUERY 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516765"/>
            <a:ext cx="7003770" cy="15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SQL with JOIN, CASE, GROUP BY — Geographic Revenue Distribution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285811"/>
            <a:ext cx="3367191" cy="3445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o.shipping_city,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CASE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WHEN o.shipping_city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IN ('Mumbai','Delhi',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'Bangalore')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THEN 'Metro'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ELSE 'Non-Metro'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END AS city_tier,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COUNT(DISTINCT o.order_id)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AS total_orders,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SUM(oi.quantity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* oi.unit_price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* (1 - oi.discount_pct))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AS total_revenue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orders o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order_items oi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ON o.order_id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= oi.order_id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o.shipping_city,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city_tier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total_revenue DESC;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550656"/>
            <a:ext cx="475450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📍 Business Insight: Reveals geographic revenue distribution across cities and tiers — enabling targeted regional marketing and resource allocation strategies.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375993"/>
            <a:ext cx="4765080" cy="167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76"/>
              </a:lnSpc>
              <a:spcBef>
                <a:spcPct val="0"/>
              </a:spcBef>
            </a:pPr>
            <a:r>
              <a:rPr lang="en-US" sz="8439" b="1" u="none" strike="noStrike" spc="-421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REVENUE </a:t>
            </a:r>
          </a:p>
          <a:p>
            <a:pPr marL="0" lvl="0" indent="0" algn="l">
              <a:lnSpc>
                <a:spcPts val="6076"/>
              </a:lnSpc>
              <a:spcBef>
                <a:spcPct val="0"/>
              </a:spcBef>
            </a:pPr>
            <a:r>
              <a:rPr lang="en-US" sz="8439" b="1" u="none" strike="noStrike" spc="-421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BY CITY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51770" y="3337893"/>
            <a:ext cx="7426403" cy="4925269"/>
            <a:chOff x="0" y="0"/>
            <a:chExt cx="1955925" cy="12971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5925" cy="1297190"/>
            </a:xfrm>
            <a:custGeom>
              <a:avLst/>
              <a:gdLst/>
              <a:ahLst/>
              <a:cxnLst/>
              <a:rect l="l" t="t" r="r" b="b"/>
              <a:pathLst>
                <a:path w="1955925" h="1297190">
                  <a:moveTo>
                    <a:pt x="11467" y="0"/>
                  </a:moveTo>
                  <a:lnTo>
                    <a:pt x="1944458" y="0"/>
                  </a:lnTo>
                  <a:cubicBezTo>
                    <a:pt x="1950791" y="0"/>
                    <a:pt x="1955925" y="5134"/>
                    <a:pt x="1955925" y="11467"/>
                  </a:cubicBezTo>
                  <a:lnTo>
                    <a:pt x="1955925" y="1285723"/>
                  </a:lnTo>
                  <a:cubicBezTo>
                    <a:pt x="1955925" y="1292056"/>
                    <a:pt x="1950791" y="1297190"/>
                    <a:pt x="1944458" y="1297190"/>
                  </a:cubicBezTo>
                  <a:lnTo>
                    <a:pt x="11467" y="1297190"/>
                  </a:lnTo>
                  <a:cubicBezTo>
                    <a:pt x="5134" y="1297190"/>
                    <a:pt x="0" y="1292056"/>
                    <a:pt x="0" y="1285723"/>
                  </a:cubicBezTo>
                  <a:lnTo>
                    <a:pt x="0" y="11467"/>
                  </a:lnTo>
                  <a:cubicBezTo>
                    <a:pt x="0" y="5134"/>
                    <a:pt x="5134" y="0"/>
                    <a:pt x="114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55925" cy="1354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417252" y="1801806"/>
            <a:ext cx="1405520" cy="1536087"/>
          </a:xfrm>
          <a:custGeom>
            <a:avLst/>
            <a:gdLst/>
            <a:ahLst/>
            <a:cxnLst/>
            <a:rect l="l" t="t" r="r" b="b"/>
            <a:pathLst>
              <a:path w="1405520" h="1536087">
                <a:moveTo>
                  <a:pt x="0" y="0"/>
                </a:moveTo>
                <a:lnTo>
                  <a:pt x="1405520" y="0"/>
                </a:lnTo>
                <a:lnTo>
                  <a:pt x="1405520" y="1536087"/>
                </a:lnTo>
                <a:lnTo>
                  <a:pt x="0" y="1536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0346334" y="3671942"/>
            <a:ext cx="6837275" cy="4257171"/>
          </a:xfrm>
          <a:custGeom>
            <a:avLst/>
            <a:gdLst/>
            <a:ahLst/>
            <a:cxnLst/>
            <a:rect l="l" t="t" r="r" b="b"/>
            <a:pathLst>
              <a:path w="6837275" h="4257171">
                <a:moveTo>
                  <a:pt x="0" y="0"/>
                </a:moveTo>
                <a:lnTo>
                  <a:pt x="6837276" y="0"/>
                </a:lnTo>
                <a:lnTo>
                  <a:pt x="6837276" y="4257171"/>
                </a:lnTo>
                <a:lnTo>
                  <a:pt x="0" y="4257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1715268"/>
            <a:ext cx="7979245" cy="277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</a:pPr>
            <a:r>
              <a:rPr lang="en-US" sz="2526" b="1" spc="-126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QUERY 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012169"/>
            <a:ext cx="7003770" cy="169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SQL: GROUP BY and COUNT on order_status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019800"/>
            <a:ext cx="3367191" cy="138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order_status,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COUNT(</a:t>
            </a:r>
            <a:r>
              <a:rPr lang="en-US" sz="1252" i="1">
                <a:solidFill>
                  <a:srgbClr val="2E2E2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) AS total_orders,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 i="1">
                <a:solidFill>
                  <a:srgbClr val="2E2E2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ROUND(COUNT(</a:t>
            </a: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) * 100.0 /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SUM(COUNT(*))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OVER(), 2)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AS pct_share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orders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 order_status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total_orders DESC;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550656"/>
            <a:ext cx="4754504" cy="627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Business Insight: Provides insight into fulfillment pipeline health — identifying the share of Delivered, Pending, Cancelled, and Refunded orders to monitor operational performance.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400626"/>
            <a:ext cx="7003770" cy="15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88"/>
              </a:lnSpc>
              <a:spcBef>
                <a:spcPct val="0"/>
              </a:spcBef>
            </a:pPr>
            <a:r>
              <a:rPr lang="en-US" sz="8039" b="1" u="none" strike="noStrike" spc="-401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ORDER STATUS </a:t>
            </a:r>
          </a:p>
          <a:p>
            <a:pPr marL="0" lvl="0" indent="0" algn="l">
              <a:lnSpc>
                <a:spcPts val="5788"/>
              </a:lnSpc>
              <a:spcBef>
                <a:spcPct val="0"/>
              </a:spcBef>
            </a:pPr>
            <a:r>
              <a:rPr lang="en-US" sz="8039" b="1" u="none" strike="noStrike" spc="-401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DISTRIBUTION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32344" y="3676214"/>
            <a:ext cx="9777380" cy="4198248"/>
            <a:chOff x="0" y="0"/>
            <a:chExt cx="2575112" cy="11057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5112" cy="1105711"/>
            </a:xfrm>
            <a:custGeom>
              <a:avLst/>
              <a:gdLst/>
              <a:ahLst/>
              <a:cxnLst/>
              <a:rect l="l" t="t" r="r" b="b"/>
              <a:pathLst>
                <a:path w="2575112" h="1105711">
                  <a:moveTo>
                    <a:pt x="8710" y="0"/>
                  </a:moveTo>
                  <a:lnTo>
                    <a:pt x="2566402" y="0"/>
                  </a:lnTo>
                  <a:cubicBezTo>
                    <a:pt x="2571213" y="0"/>
                    <a:pt x="2575112" y="3900"/>
                    <a:pt x="2575112" y="8710"/>
                  </a:cubicBezTo>
                  <a:lnTo>
                    <a:pt x="2575112" y="1097001"/>
                  </a:lnTo>
                  <a:cubicBezTo>
                    <a:pt x="2575112" y="1101812"/>
                    <a:pt x="2571213" y="1105711"/>
                    <a:pt x="2566402" y="1105711"/>
                  </a:cubicBezTo>
                  <a:lnTo>
                    <a:pt x="8710" y="1105711"/>
                  </a:lnTo>
                  <a:cubicBezTo>
                    <a:pt x="3900" y="1105711"/>
                    <a:pt x="0" y="1101812"/>
                    <a:pt x="0" y="1097001"/>
                  </a:cubicBezTo>
                  <a:lnTo>
                    <a:pt x="0" y="8710"/>
                  </a:lnTo>
                  <a:cubicBezTo>
                    <a:pt x="0" y="3900"/>
                    <a:pt x="3900" y="0"/>
                    <a:pt x="871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575112" cy="1162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934314"/>
            <a:ext cx="7979245" cy="2209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5"/>
              </a:lnSpc>
            </a:pPr>
            <a:r>
              <a:rPr lang="en-US" sz="7646" b="1" spc="-382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 PAYMENT METHOD PERFORMANCE</a:t>
            </a:r>
          </a:p>
        </p:txBody>
      </p:sp>
      <p:sp>
        <p:nvSpPr>
          <p:cNvPr id="6" name="Freeform 6"/>
          <p:cNvSpPr/>
          <p:nvPr/>
        </p:nvSpPr>
        <p:spPr>
          <a:xfrm>
            <a:off x="5512205" y="2769452"/>
            <a:ext cx="1846775" cy="1394315"/>
          </a:xfrm>
          <a:custGeom>
            <a:avLst/>
            <a:gdLst/>
            <a:ahLst/>
            <a:cxnLst/>
            <a:rect l="l" t="t" r="r" b="b"/>
            <a:pathLst>
              <a:path w="1846775" h="1394315">
                <a:moveTo>
                  <a:pt x="0" y="0"/>
                </a:moveTo>
                <a:lnTo>
                  <a:pt x="1846774" y="0"/>
                </a:lnTo>
                <a:lnTo>
                  <a:pt x="1846774" y="1394315"/>
                </a:lnTo>
                <a:lnTo>
                  <a:pt x="0" y="1394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8507619" y="4008693"/>
            <a:ext cx="9226830" cy="3533290"/>
          </a:xfrm>
          <a:custGeom>
            <a:avLst/>
            <a:gdLst/>
            <a:ahLst/>
            <a:cxnLst/>
            <a:rect l="l" t="t" r="r" b="b"/>
            <a:pathLst>
              <a:path w="9226830" h="3533290">
                <a:moveTo>
                  <a:pt x="0" y="0"/>
                </a:moveTo>
                <a:lnTo>
                  <a:pt x="9226830" y="0"/>
                </a:lnTo>
                <a:lnTo>
                  <a:pt x="9226830" y="3533290"/>
                </a:lnTo>
                <a:lnTo>
                  <a:pt x="0" y="3533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028700" y="5391150"/>
            <a:ext cx="7003770" cy="1873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p.payment_method,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COUNT(p.payment_id) AS total_transactions,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SUM(py.amount) AS total_revenue,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AVG(py.amount) AS avg_payment_value,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CASE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WHEN SUM(py.amount) &gt; 500000 THEN 'High'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WHEN SUM(py.amount) &gt; 200000 THEN 'Medium'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ELSE 'Low'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END AS revenue_tier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orders o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payments py ON o.order_id = py.order_id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 p.payment_method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total_revenue DESC;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601902"/>
            <a:ext cx="3367191" cy="730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SQL Techniques Used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• JOIN (orders → payments)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• SUM() &amp; AVG() aggregation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• CASE for revenue tier classification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• GROUP BY payment method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385048"/>
            <a:ext cx="3367191" cy="87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Business Insight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Evaluates payment channel effectiveness and revenue contribution. Identifies which payment methods drive the highest transaction volumes and average order values to optimize checkout experience.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160146"/>
            <a:ext cx="1208484" cy="42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6"/>
              </a:lnSpc>
              <a:spcBef>
                <a:spcPct val="0"/>
              </a:spcBef>
            </a:pPr>
            <a:r>
              <a:rPr lang="en-US" sz="2483" b="1" spc="-12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QUERY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95727" y="3641001"/>
            <a:ext cx="7682446" cy="3777934"/>
            <a:chOff x="0" y="0"/>
            <a:chExt cx="2023360" cy="995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23360" cy="995011"/>
            </a:xfrm>
            <a:custGeom>
              <a:avLst/>
              <a:gdLst/>
              <a:ahLst/>
              <a:cxnLst/>
              <a:rect l="l" t="t" r="r" b="b"/>
              <a:pathLst>
                <a:path w="2023360" h="995011">
                  <a:moveTo>
                    <a:pt x="11085" y="0"/>
                  </a:moveTo>
                  <a:lnTo>
                    <a:pt x="2012275" y="0"/>
                  </a:lnTo>
                  <a:cubicBezTo>
                    <a:pt x="2018397" y="0"/>
                    <a:pt x="2023360" y="4963"/>
                    <a:pt x="2023360" y="11085"/>
                  </a:cubicBezTo>
                  <a:lnTo>
                    <a:pt x="2023360" y="983926"/>
                  </a:lnTo>
                  <a:cubicBezTo>
                    <a:pt x="2023360" y="990048"/>
                    <a:pt x="2018397" y="995011"/>
                    <a:pt x="2012275" y="995011"/>
                  </a:cubicBezTo>
                  <a:lnTo>
                    <a:pt x="11085" y="995011"/>
                  </a:lnTo>
                  <a:cubicBezTo>
                    <a:pt x="4963" y="995011"/>
                    <a:pt x="0" y="990048"/>
                    <a:pt x="0" y="983926"/>
                  </a:cubicBezTo>
                  <a:lnTo>
                    <a:pt x="0" y="11085"/>
                  </a:lnTo>
                  <a:cubicBezTo>
                    <a:pt x="0" y="4963"/>
                    <a:pt x="4963" y="0"/>
                    <a:pt x="1108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23360" cy="1052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160443" y="3749560"/>
            <a:ext cx="1245521" cy="1586651"/>
          </a:xfrm>
          <a:custGeom>
            <a:avLst/>
            <a:gdLst/>
            <a:ahLst/>
            <a:cxnLst/>
            <a:rect l="l" t="t" r="r" b="b"/>
            <a:pathLst>
              <a:path w="1245521" h="1586651">
                <a:moveTo>
                  <a:pt x="0" y="0"/>
                </a:moveTo>
                <a:lnTo>
                  <a:pt x="1245521" y="0"/>
                </a:lnTo>
                <a:lnTo>
                  <a:pt x="1245521" y="1586651"/>
                </a:lnTo>
                <a:lnTo>
                  <a:pt x="0" y="15866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9995888" y="4045868"/>
            <a:ext cx="7263412" cy="2971396"/>
          </a:xfrm>
          <a:custGeom>
            <a:avLst/>
            <a:gdLst/>
            <a:ahLst/>
            <a:cxnLst/>
            <a:rect l="l" t="t" r="r" b="b"/>
            <a:pathLst>
              <a:path w="7263412" h="2971396">
                <a:moveTo>
                  <a:pt x="0" y="0"/>
                </a:moveTo>
                <a:lnTo>
                  <a:pt x="7263412" y="0"/>
                </a:lnTo>
                <a:lnTo>
                  <a:pt x="7263412" y="2971396"/>
                </a:lnTo>
                <a:lnTo>
                  <a:pt x="0" y="2971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2908682"/>
            <a:ext cx="7979245" cy="184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35"/>
              </a:lnSpc>
            </a:pPr>
            <a:r>
              <a:rPr lang="en-US" sz="8382" b="1" spc="-419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AVERAGE</a:t>
            </a:r>
          </a:p>
          <a:p>
            <a:pPr marL="0" lvl="0" indent="0" algn="l">
              <a:lnSpc>
                <a:spcPts val="7187"/>
              </a:lnSpc>
            </a:pPr>
            <a:r>
              <a:rPr lang="en-US" sz="9982" b="1" spc="-499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ORDER VALUE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785498"/>
            <a:ext cx="7003770" cy="101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AVG(order_total) AS avg_order_value</a:t>
            </a:r>
          </a:p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(</a:t>
            </a:r>
          </a:p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order_id, SUM(unit_price * quantity</a:t>
            </a:r>
          </a:p>
          <a:p>
            <a:pPr marL="259329" lvl="1" indent="-129665" algn="l">
              <a:lnSpc>
                <a:spcPts val="1165"/>
              </a:lnSpc>
              <a:buFont typeface="Arial"/>
              <a:buChar char="•"/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(1 - discount_pct)) AS order_total</a:t>
            </a:r>
          </a:p>
          <a:p>
            <a:pPr marL="259329" lvl="1" indent="-129665" algn="l">
              <a:lnSpc>
                <a:spcPts val="1165"/>
              </a:lnSpc>
              <a:buFont typeface="Arial"/>
              <a:buChar char="•"/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order_items</a:t>
            </a:r>
          </a:p>
          <a:p>
            <a:pPr marL="259329" lvl="1" indent="-129665" algn="l">
              <a:lnSpc>
                <a:spcPts val="1165"/>
              </a:lnSpc>
              <a:buFont typeface="Arial"/>
              <a:buChar char="•"/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 order_id</a:t>
            </a:r>
          </a:p>
          <a:p>
            <a:pPr marL="259329" lvl="1" indent="-129665" algn="l">
              <a:lnSpc>
                <a:spcPts val="1165"/>
              </a:lnSpc>
              <a:buFont typeface="Arial"/>
              <a:buChar char="•"/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) AS order_summary;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549621"/>
            <a:ext cx="3367191" cy="58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SQL Techniques</a:t>
            </a:r>
          </a:p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Subquery, SUM(), AVG()</a:t>
            </a:r>
          </a:p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 order_id</a:t>
            </a:r>
          </a:p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Discount-adjusted totals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550656"/>
            <a:ext cx="4754504" cy="444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Business Insight: Measures typical customer spend per order</a:t>
            </a:r>
          </a:p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Helps inform pricing strategies and promotional thresholds</a:t>
            </a:r>
          </a:p>
          <a:p>
            <a:pPr marL="0" lvl="0" indent="0" algn="l">
              <a:lnSpc>
                <a:spcPts val="1165"/>
              </a:lnSpc>
            </a:pPr>
            <a:r>
              <a:rPr lang="en-US" sz="1201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Baseline metric for tracking revenue growth over time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090924"/>
            <a:ext cx="1333500" cy="421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2"/>
              </a:lnSpc>
              <a:spcBef>
                <a:spcPct val="0"/>
              </a:spcBef>
            </a:pPr>
            <a:r>
              <a:rPr lang="en-US" sz="2566" b="1" spc="-12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QUERY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0939" y="2769452"/>
            <a:ext cx="7088361" cy="5993993"/>
            <a:chOff x="0" y="0"/>
            <a:chExt cx="1866893" cy="1578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6893" cy="1578665"/>
            </a:xfrm>
            <a:custGeom>
              <a:avLst/>
              <a:gdLst/>
              <a:ahLst/>
              <a:cxnLst/>
              <a:rect l="l" t="t" r="r" b="b"/>
              <a:pathLst>
                <a:path w="1866893" h="1578665">
                  <a:moveTo>
                    <a:pt x="12014" y="0"/>
                  </a:moveTo>
                  <a:lnTo>
                    <a:pt x="1854879" y="0"/>
                  </a:lnTo>
                  <a:cubicBezTo>
                    <a:pt x="1861514" y="0"/>
                    <a:pt x="1866893" y="5379"/>
                    <a:pt x="1866893" y="12014"/>
                  </a:cubicBezTo>
                  <a:lnTo>
                    <a:pt x="1866893" y="1566650"/>
                  </a:lnTo>
                  <a:cubicBezTo>
                    <a:pt x="1866893" y="1569837"/>
                    <a:pt x="1865628" y="1572893"/>
                    <a:pt x="1863374" y="1575146"/>
                  </a:cubicBezTo>
                  <a:cubicBezTo>
                    <a:pt x="1861121" y="1577399"/>
                    <a:pt x="1858066" y="1578665"/>
                    <a:pt x="1854879" y="1578665"/>
                  </a:cubicBezTo>
                  <a:lnTo>
                    <a:pt x="12014" y="1578665"/>
                  </a:lnTo>
                  <a:cubicBezTo>
                    <a:pt x="8828" y="1578665"/>
                    <a:pt x="5772" y="1577399"/>
                    <a:pt x="3519" y="1575146"/>
                  </a:cubicBezTo>
                  <a:cubicBezTo>
                    <a:pt x="1266" y="1572893"/>
                    <a:pt x="0" y="1569837"/>
                    <a:pt x="0" y="1566650"/>
                  </a:cubicBezTo>
                  <a:lnTo>
                    <a:pt x="0" y="12014"/>
                  </a:lnTo>
                  <a:cubicBezTo>
                    <a:pt x="0" y="8828"/>
                    <a:pt x="1266" y="5772"/>
                    <a:pt x="3519" y="3519"/>
                  </a:cubicBezTo>
                  <a:cubicBezTo>
                    <a:pt x="5772" y="1266"/>
                    <a:pt x="8828" y="0"/>
                    <a:pt x="120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66893" cy="1635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380589" y="2700059"/>
            <a:ext cx="2627356" cy="2443441"/>
          </a:xfrm>
          <a:custGeom>
            <a:avLst/>
            <a:gdLst/>
            <a:ahLst/>
            <a:cxnLst/>
            <a:rect l="l" t="t" r="r" b="b"/>
            <a:pathLst>
              <a:path w="2627356" h="2443441">
                <a:moveTo>
                  <a:pt x="0" y="0"/>
                </a:moveTo>
                <a:lnTo>
                  <a:pt x="2627356" y="0"/>
                </a:lnTo>
                <a:lnTo>
                  <a:pt x="2627356" y="2443441"/>
                </a:lnTo>
                <a:lnTo>
                  <a:pt x="0" y="2443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0315336" y="3106809"/>
            <a:ext cx="6799567" cy="5319279"/>
          </a:xfrm>
          <a:custGeom>
            <a:avLst/>
            <a:gdLst/>
            <a:ahLst/>
            <a:cxnLst/>
            <a:rect l="l" t="t" r="r" b="b"/>
            <a:pathLst>
              <a:path w="6799567" h="5319279">
                <a:moveTo>
                  <a:pt x="0" y="0"/>
                </a:moveTo>
                <a:lnTo>
                  <a:pt x="6799567" y="0"/>
                </a:lnTo>
                <a:lnTo>
                  <a:pt x="6799567" y="5319278"/>
                </a:lnTo>
                <a:lnTo>
                  <a:pt x="0" y="531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3122090"/>
            <a:ext cx="7979245" cy="2021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87"/>
              </a:lnSpc>
            </a:pPr>
            <a:r>
              <a:rPr lang="en-US" sz="7065" b="1" spc="-353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LOW-STOCK PRODUCT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775973"/>
            <a:ext cx="7003770" cy="88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product_id, product_name, category_id,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stock_qty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products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WHERE stock_qty &lt; 20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stock_qty ASC;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3394" y="7874825"/>
            <a:ext cx="3367191" cy="88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⚠ Business Insight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Flags inventory risks requiring immediate replenishment. Identifies products at risk of stockout to prevent lost sales.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572388"/>
            <a:ext cx="4754504" cy="545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Technique: WHERE clause • ORDER BY ASC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Filter: stock_qty &lt; 20 threshold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Output: Products ranked by lowest stock first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108913"/>
            <a:ext cx="1257300" cy="421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2"/>
              </a:lnSpc>
              <a:spcBef>
                <a:spcPct val="0"/>
              </a:spcBef>
            </a:pPr>
            <a:r>
              <a:rPr lang="en-US" sz="2566" b="1" spc="-128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QUERY 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27070" y="2769452"/>
            <a:ext cx="8195048" cy="5993993"/>
            <a:chOff x="0" y="0"/>
            <a:chExt cx="2158366" cy="1578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8367" cy="1578665"/>
            </a:xfrm>
            <a:custGeom>
              <a:avLst/>
              <a:gdLst/>
              <a:ahLst/>
              <a:cxnLst/>
              <a:rect l="l" t="t" r="r" b="b"/>
              <a:pathLst>
                <a:path w="2158367" h="1578665">
                  <a:moveTo>
                    <a:pt x="10392" y="0"/>
                  </a:moveTo>
                  <a:lnTo>
                    <a:pt x="2147975" y="0"/>
                  </a:lnTo>
                  <a:cubicBezTo>
                    <a:pt x="2150731" y="0"/>
                    <a:pt x="2153374" y="1095"/>
                    <a:pt x="2155323" y="3044"/>
                  </a:cubicBezTo>
                  <a:cubicBezTo>
                    <a:pt x="2157272" y="4993"/>
                    <a:pt x="2158367" y="7636"/>
                    <a:pt x="2158367" y="10392"/>
                  </a:cubicBezTo>
                  <a:lnTo>
                    <a:pt x="2158367" y="1568273"/>
                  </a:lnTo>
                  <a:cubicBezTo>
                    <a:pt x="2158367" y="1571029"/>
                    <a:pt x="2157272" y="1573672"/>
                    <a:pt x="2155323" y="1575621"/>
                  </a:cubicBezTo>
                  <a:cubicBezTo>
                    <a:pt x="2153374" y="1577570"/>
                    <a:pt x="2150731" y="1578665"/>
                    <a:pt x="2147975" y="1578665"/>
                  </a:cubicBezTo>
                  <a:lnTo>
                    <a:pt x="10392" y="1578665"/>
                  </a:lnTo>
                  <a:cubicBezTo>
                    <a:pt x="7636" y="1578665"/>
                    <a:pt x="4993" y="1577570"/>
                    <a:pt x="3044" y="1575621"/>
                  </a:cubicBezTo>
                  <a:cubicBezTo>
                    <a:pt x="1095" y="1573672"/>
                    <a:pt x="0" y="1571029"/>
                    <a:pt x="0" y="1568273"/>
                  </a:cubicBezTo>
                  <a:lnTo>
                    <a:pt x="0" y="10392"/>
                  </a:lnTo>
                  <a:cubicBezTo>
                    <a:pt x="0" y="7636"/>
                    <a:pt x="1095" y="4993"/>
                    <a:pt x="3044" y="3044"/>
                  </a:cubicBezTo>
                  <a:cubicBezTo>
                    <a:pt x="4993" y="1095"/>
                    <a:pt x="7636" y="0"/>
                    <a:pt x="103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58366" cy="1635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62601" y="3270997"/>
            <a:ext cx="838200" cy="805703"/>
          </a:xfrm>
          <a:custGeom>
            <a:avLst/>
            <a:gdLst/>
            <a:ahLst/>
            <a:cxnLst/>
            <a:rect l="l" t="t" r="r" b="b"/>
            <a:pathLst>
              <a:path w="1081837" h="1081837">
                <a:moveTo>
                  <a:pt x="0" y="0"/>
                </a:moveTo>
                <a:lnTo>
                  <a:pt x="1081837" y="0"/>
                </a:lnTo>
                <a:lnTo>
                  <a:pt x="1081837" y="1081837"/>
                </a:lnTo>
                <a:lnTo>
                  <a:pt x="0" y="10818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9802928" y="3106809"/>
            <a:ext cx="7824382" cy="5319279"/>
          </a:xfrm>
          <a:custGeom>
            <a:avLst/>
            <a:gdLst/>
            <a:ahLst/>
            <a:cxnLst/>
            <a:rect l="l" t="t" r="r" b="b"/>
            <a:pathLst>
              <a:path w="7824382" h="5319279">
                <a:moveTo>
                  <a:pt x="0" y="0"/>
                </a:moveTo>
                <a:lnTo>
                  <a:pt x="7824383" y="0"/>
                </a:lnTo>
                <a:lnTo>
                  <a:pt x="7824383" y="5319278"/>
                </a:lnTo>
                <a:lnTo>
                  <a:pt x="0" y="531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3257" y="2566196"/>
            <a:ext cx="7979245" cy="2100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91"/>
              </a:lnSpc>
            </a:pPr>
            <a:r>
              <a:rPr lang="en-US" sz="9600" b="1" spc="-561" dirty="0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HIGH-VALUE</a:t>
            </a:r>
          </a:p>
          <a:p>
            <a:pPr marL="0" lvl="0" indent="0" algn="l">
              <a:lnSpc>
                <a:spcPts val="8091"/>
              </a:lnSpc>
            </a:pPr>
            <a:r>
              <a:rPr lang="en-US" sz="9600" b="1" spc="-561" dirty="0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ORDERS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579300"/>
            <a:ext cx="7003770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Filtering orders with total value above ₹100,000 to identify premium transactions that require special attention and strategic focus.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3257" y="5148943"/>
            <a:ext cx="3367191" cy="2302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o.order_id,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o.customer_id,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o.order_date,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SUM(oi.quantity *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oi.unit_price) AS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order_total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orders o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order_items oi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ON o.order_id =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oi.order_id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o.order_id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HAVING order_total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100000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order_total DESC;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550656"/>
            <a:ext cx="4754504" cy="87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Business Insight: Highlights premium sales requiring special attention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Uses HAVING clause to filter aggregated order totals above threshold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Supports VIP order management and priority fulfillment strategies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071073"/>
            <a:ext cx="7003770" cy="43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2"/>
              </a:lnSpc>
              <a:spcBef>
                <a:spcPct val="0"/>
              </a:spcBef>
            </a:pPr>
            <a:r>
              <a:rPr lang="en-US" sz="2566" b="1" spc="-12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QUERY 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918207"/>
            <a:ext cx="7979245" cy="2547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39"/>
              </a:lnSpc>
            </a:pPr>
            <a:r>
              <a:rPr lang="en-US" sz="8665" b="1" spc="-433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TOP 3 CUSTOMERS</a:t>
            </a:r>
          </a:p>
          <a:p>
            <a:pPr marL="0" lvl="0" indent="0" algn="l">
              <a:lnSpc>
                <a:spcPts val="6455"/>
              </a:lnSpc>
            </a:pPr>
            <a:r>
              <a:rPr lang="en-US" sz="8965" b="1" spc="-448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PER CITY</a:t>
            </a:r>
          </a:p>
        </p:txBody>
      </p:sp>
      <p:sp>
        <p:nvSpPr>
          <p:cNvPr id="3" name="Freeform 3"/>
          <p:cNvSpPr/>
          <p:nvPr/>
        </p:nvSpPr>
        <p:spPr>
          <a:xfrm>
            <a:off x="5970810" y="2149665"/>
            <a:ext cx="1309986" cy="1239575"/>
          </a:xfrm>
          <a:custGeom>
            <a:avLst/>
            <a:gdLst/>
            <a:ahLst/>
            <a:cxnLst/>
            <a:rect l="l" t="t" r="r" b="b"/>
            <a:pathLst>
              <a:path w="1309986" h="1239575">
                <a:moveTo>
                  <a:pt x="0" y="0"/>
                </a:moveTo>
                <a:lnTo>
                  <a:pt x="1309987" y="0"/>
                </a:lnTo>
                <a:lnTo>
                  <a:pt x="1309987" y="1239574"/>
                </a:lnTo>
                <a:lnTo>
                  <a:pt x="0" y="1239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9483051" y="2957058"/>
            <a:ext cx="8464138" cy="5806387"/>
            <a:chOff x="0" y="0"/>
            <a:chExt cx="2229238" cy="15292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29238" cy="1529254"/>
            </a:xfrm>
            <a:custGeom>
              <a:avLst/>
              <a:gdLst/>
              <a:ahLst/>
              <a:cxnLst/>
              <a:rect l="l" t="t" r="r" b="b"/>
              <a:pathLst>
                <a:path w="2229238" h="1529254">
                  <a:moveTo>
                    <a:pt x="10061" y="0"/>
                  </a:moveTo>
                  <a:lnTo>
                    <a:pt x="2219177" y="0"/>
                  </a:lnTo>
                  <a:cubicBezTo>
                    <a:pt x="2221845" y="0"/>
                    <a:pt x="2224404" y="1060"/>
                    <a:pt x="2226291" y="2947"/>
                  </a:cubicBezTo>
                  <a:cubicBezTo>
                    <a:pt x="2228178" y="4834"/>
                    <a:pt x="2229238" y="7393"/>
                    <a:pt x="2229238" y="10061"/>
                  </a:cubicBezTo>
                  <a:lnTo>
                    <a:pt x="2229238" y="1519193"/>
                  </a:lnTo>
                  <a:cubicBezTo>
                    <a:pt x="2229238" y="1524749"/>
                    <a:pt x="2224733" y="1529254"/>
                    <a:pt x="2219177" y="1529254"/>
                  </a:cubicBezTo>
                  <a:lnTo>
                    <a:pt x="10061" y="1529254"/>
                  </a:lnTo>
                  <a:cubicBezTo>
                    <a:pt x="4505" y="1529254"/>
                    <a:pt x="0" y="1524749"/>
                    <a:pt x="0" y="1519193"/>
                  </a:cubicBezTo>
                  <a:lnTo>
                    <a:pt x="0" y="10061"/>
                  </a:lnTo>
                  <a:cubicBezTo>
                    <a:pt x="0" y="4505"/>
                    <a:pt x="4505" y="0"/>
                    <a:pt x="1006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229238" cy="15864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741980" y="3217736"/>
            <a:ext cx="7946279" cy="5313870"/>
          </a:xfrm>
          <a:custGeom>
            <a:avLst/>
            <a:gdLst/>
            <a:ahLst/>
            <a:cxnLst/>
            <a:rect l="l" t="t" r="r" b="b"/>
            <a:pathLst>
              <a:path w="7946279" h="5313870">
                <a:moveTo>
                  <a:pt x="0" y="0"/>
                </a:moveTo>
                <a:lnTo>
                  <a:pt x="7946279" y="0"/>
                </a:lnTo>
                <a:lnTo>
                  <a:pt x="7946279" y="5313870"/>
                </a:lnTo>
                <a:lnTo>
                  <a:pt x="0" y="5313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028700" y="1355744"/>
            <a:ext cx="7003770" cy="32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SQL Technique: DENSE_RANK() Window Function — Ranks customers by total revenue within each city partition to surface local top performers.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085894"/>
            <a:ext cx="3367191" cy="138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city, customer_name,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total_revenue,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DENSE_RANK() OVER (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PARTITION BY city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total_revenue DESC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) AS city_rank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vw_customer_value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WHERE city_rank &lt;= 3</a:t>
            </a:r>
          </a:p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city, city_rank;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550656"/>
            <a:ext cx="4754504" cy="47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4"/>
              </a:lnSpc>
            </a:pPr>
            <a:r>
              <a:rPr lang="en-US" sz="1252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Business Insight: Identifies the top 3 revenue-generating customers in each city, enabling targeted regional loyalty and marketing strategies for local leaders.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80035"/>
            <a:ext cx="7003770" cy="45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4"/>
              </a:lnSpc>
              <a:spcBef>
                <a:spcPct val="0"/>
              </a:spcBef>
            </a:pPr>
            <a:r>
              <a:rPr lang="en-US" sz="2646" b="1" spc="-13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QUERY 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59070" y="2642545"/>
            <a:ext cx="9888119" cy="5993993"/>
            <a:chOff x="0" y="0"/>
            <a:chExt cx="2604278" cy="1578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4278" cy="1578665"/>
            </a:xfrm>
            <a:custGeom>
              <a:avLst/>
              <a:gdLst/>
              <a:ahLst/>
              <a:cxnLst/>
              <a:rect l="l" t="t" r="r" b="b"/>
              <a:pathLst>
                <a:path w="2604278" h="1578665">
                  <a:moveTo>
                    <a:pt x="8612" y="0"/>
                  </a:moveTo>
                  <a:lnTo>
                    <a:pt x="2595666" y="0"/>
                  </a:lnTo>
                  <a:cubicBezTo>
                    <a:pt x="2597950" y="0"/>
                    <a:pt x="2600140" y="907"/>
                    <a:pt x="2601756" y="2523"/>
                  </a:cubicBezTo>
                  <a:cubicBezTo>
                    <a:pt x="2603371" y="4138"/>
                    <a:pt x="2604278" y="6328"/>
                    <a:pt x="2604278" y="8612"/>
                  </a:cubicBezTo>
                  <a:lnTo>
                    <a:pt x="2604278" y="1570052"/>
                  </a:lnTo>
                  <a:cubicBezTo>
                    <a:pt x="2604278" y="1574809"/>
                    <a:pt x="2600422" y="1578665"/>
                    <a:pt x="2595666" y="1578665"/>
                  </a:cubicBezTo>
                  <a:lnTo>
                    <a:pt x="8612" y="1578665"/>
                  </a:lnTo>
                  <a:cubicBezTo>
                    <a:pt x="3856" y="1578665"/>
                    <a:pt x="0" y="1574809"/>
                    <a:pt x="0" y="1570052"/>
                  </a:cubicBezTo>
                  <a:lnTo>
                    <a:pt x="0" y="8612"/>
                  </a:lnTo>
                  <a:cubicBezTo>
                    <a:pt x="0" y="3856"/>
                    <a:pt x="3856" y="0"/>
                    <a:pt x="86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604278" cy="1635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483" y="7849166"/>
            <a:ext cx="2519587" cy="1574742"/>
          </a:xfrm>
          <a:custGeom>
            <a:avLst/>
            <a:gdLst/>
            <a:ahLst/>
            <a:cxnLst/>
            <a:rect l="l" t="t" r="r" b="b"/>
            <a:pathLst>
              <a:path w="2519587" h="1574742">
                <a:moveTo>
                  <a:pt x="0" y="0"/>
                </a:moveTo>
                <a:lnTo>
                  <a:pt x="2519587" y="0"/>
                </a:lnTo>
                <a:lnTo>
                  <a:pt x="2519587" y="1574742"/>
                </a:lnTo>
                <a:lnTo>
                  <a:pt x="0" y="15747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8295092" y="2990751"/>
            <a:ext cx="9416074" cy="5297580"/>
          </a:xfrm>
          <a:custGeom>
            <a:avLst/>
            <a:gdLst/>
            <a:ahLst/>
            <a:cxnLst/>
            <a:rect l="l" t="t" r="r" b="b"/>
            <a:pathLst>
              <a:path w="9416074" h="5297580">
                <a:moveTo>
                  <a:pt x="0" y="0"/>
                </a:moveTo>
                <a:lnTo>
                  <a:pt x="9416074" y="0"/>
                </a:lnTo>
                <a:lnTo>
                  <a:pt x="9416074" y="5297580"/>
                </a:lnTo>
                <a:lnTo>
                  <a:pt x="0" y="5297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859400" y="854604"/>
            <a:ext cx="7979245" cy="262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7"/>
              </a:lnSpc>
            </a:pPr>
            <a:r>
              <a:rPr lang="en-US" sz="2426" b="1" spc="-121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QUERY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9400" y="1433826"/>
            <a:ext cx="5093104" cy="295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  <a:spcBef>
                <a:spcPct val="0"/>
              </a:spcBef>
            </a:pPr>
            <a:r>
              <a:rPr lang="en-US" sz="6319" b="1" u="none" strike="noStrike" spc="-315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TOP 5 PRODUCTS WITHIN EVERY DEPARTMENT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618331"/>
            <a:ext cx="3367191" cy="3587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department, product_name, total_revenue,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product_rank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(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c.department,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p.product_name,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SUM(oi.quantity * oi.unit_price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* (1 - oi.discount_pct/100))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AS total_revenue,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ROW_NUMBER() OVER (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PARTITION BY c.department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SUM(oi.quantity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* oi.unit_price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* (1 - oi.discount_pct/100)) DESC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) AS product_rank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order_items oi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products p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ON oi.product_id = p.product_id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categories c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ON p.category_id = c.category_id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 c.department, p.product_name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) ranked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WHERE product_rank &lt;= 5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department, product_rank;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550656"/>
            <a:ext cx="4754504" cy="87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Business Insight: Shows best-performing products per department to guide assortment planning and inventory prioritization.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• Window Function: ROW_NUMBER() PARTITION BY department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• Ranks products by revenue within each department segment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0939" y="2769452"/>
            <a:ext cx="7088361" cy="5993993"/>
            <a:chOff x="0" y="0"/>
            <a:chExt cx="1866893" cy="1578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6893" cy="1578665"/>
            </a:xfrm>
            <a:custGeom>
              <a:avLst/>
              <a:gdLst/>
              <a:ahLst/>
              <a:cxnLst/>
              <a:rect l="l" t="t" r="r" b="b"/>
              <a:pathLst>
                <a:path w="1866893" h="1578665">
                  <a:moveTo>
                    <a:pt x="12014" y="0"/>
                  </a:moveTo>
                  <a:lnTo>
                    <a:pt x="1854879" y="0"/>
                  </a:lnTo>
                  <a:cubicBezTo>
                    <a:pt x="1861514" y="0"/>
                    <a:pt x="1866893" y="5379"/>
                    <a:pt x="1866893" y="12014"/>
                  </a:cubicBezTo>
                  <a:lnTo>
                    <a:pt x="1866893" y="1566650"/>
                  </a:lnTo>
                  <a:cubicBezTo>
                    <a:pt x="1866893" y="1569837"/>
                    <a:pt x="1865628" y="1572893"/>
                    <a:pt x="1863374" y="1575146"/>
                  </a:cubicBezTo>
                  <a:cubicBezTo>
                    <a:pt x="1861121" y="1577399"/>
                    <a:pt x="1858066" y="1578665"/>
                    <a:pt x="1854879" y="1578665"/>
                  </a:cubicBezTo>
                  <a:lnTo>
                    <a:pt x="12014" y="1578665"/>
                  </a:lnTo>
                  <a:cubicBezTo>
                    <a:pt x="8828" y="1578665"/>
                    <a:pt x="5772" y="1577399"/>
                    <a:pt x="3519" y="1575146"/>
                  </a:cubicBezTo>
                  <a:cubicBezTo>
                    <a:pt x="1266" y="1572893"/>
                    <a:pt x="0" y="1569837"/>
                    <a:pt x="0" y="1566650"/>
                  </a:cubicBezTo>
                  <a:lnTo>
                    <a:pt x="0" y="12014"/>
                  </a:lnTo>
                  <a:cubicBezTo>
                    <a:pt x="0" y="8828"/>
                    <a:pt x="1266" y="5772"/>
                    <a:pt x="3519" y="3519"/>
                  </a:cubicBezTo>
                  <a:cubicBezTo>
                    <a:pt x="5772" y="1266"/>
                    <a:pt x="8828" y="0"/>
                    <a:pt x="120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66893" cy="1635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814613" y="1878809"/>
            <a:ext cx="3440310" cy="3354302"/>
          </a:xfrm>
          <a:custGeom>
            <a:avLst/>
            <a:gdLst/>
            <a:ahLst/>
            <a:cxnLst/>
            <a:rect l="l" t="t" r="r" b="b"/>
            <a:pathLst>
              <a:path w="3440310" h="3354302">
                <a:moveTo>
                  <a:pt x="0" y="0"/>
                </a:moveTo>
                <a:lnTo>
                  <a:pt x="3440310" y="0"/>
                </a:lnTo>
                <a:lnTo>
                  <a:pt x="3440310" y="3354302"/>
                </a:lnTo>
                <a:lnTo>
                  <a:pt x="0" y="3354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0411057" y="3114938"/>
            <a:ext cx="6608125" cy="5303020"/>
          </a:xfrm>
          <a:custGeom>
            <a:avLst/>
            <a:gdLst/>
            <a:ahLst/>
            <a:cxnLst/>
            <a:rect l="l" t="t" r="r" b="b"/>
            <a:pathLst>
              <a:path w="6608125" h="5303020">
                <a:moveTo>
                  <a:pt x="0" y="0"/>
                </a:moveTo>
                <a:lnTo>
                  <a:pt x="6608125" y="0"/>
                </a:lnTo>
                <a:lnTo>
                  <a:pt x="6608125" y="5303020"/>
                </a:lnTo>
                <a:lnTo>
                  <a:pt x="0" y="5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2531165"/>
            <a:ext cx="7979245" cy="244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95"/>
              </a:lnSpc>
            </a:pPr>
            <a:r>
              <a:rPr lang="en-US" sz="8465" b="1" spc="-423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CATEGORY REVENUE</a:t>
            </a:r>
          </a:p>
          <a:p>
            <a:pPr marL="0" lvl="0" indent="0" algn="l">
              <a:lnSpc>
                <a:spcPts val="6095"/>
              </a:lnSpc>
            </a:pPr>
            <a:r>
              <a:rPr lang="en-US" sz="8465" b="1" spc="-423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USING CTE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473455"/>
            <a:ext cx="7003770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SQL Technique: Common Table Expression (CTE) — WITH clause for modular, readable query structure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352279"/>
            <a:ext cx="3367191" cy="3016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WITH category_sales AS (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c.category_name,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c.department,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SUM(oi.quantity * oi.unit_price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* (1 - oi.discount_pct/100))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AS total_revenue,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COUNT(DISTINCT oi.order_id)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AS total_orders,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SUM(oi.quantity) AS units_sold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order_items oi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products p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ON oi.product_id = p.product_id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categories c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ON p.category_id = c.category_id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c.category_name, c.department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*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category_sales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total_revenue DESC;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749656"/>
            <a:ext cx="4754504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Technique: CTE (WITH clause)  •  JOIN across 3 tables  •  GROUP BY category &amp; department  •  Modular query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020032"/>
            <a:ext cx="7003770" cy="44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6"/>
              </a:lnSpc>
              <a:spcBef>
                <a:spcPct val="0"/>
              </a:spcBef>
            </a:pPr>
            <a:r>
              <a:rPr lang="en-US" sz="2518" b="1" spc="-12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QUERY 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0939" y="2769452"/>
            <a:ext cx="7088361" cy="5993993"/>
            <a:chOff x="0" y="0"/>
            <a:chExt cx="1866893" cy="1578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6893" cy="1578665"/>
            </a:xfrm>
            <a:custGeom>
              <a:avLst/>
              <a:gdLst/>
              <a:ahLst/>
              <a:cxnLst/>
              <a:rect l="l" t="t" r="r" b="b"/>
              <a:pathLst>
                <a:path w="1866893" h="1578665">
                  <a:moveTo>
                    <a:pt x="12014" y="0"/>
                  </a:moveTo>
                  <a:lnTo>
                    <a:pt x="1854879" y="0"/>
                  </a:lnTo>
                  <a:cubicBezTo>
                    <a:pt x="1861514" y="0"/>
                    <a:pt x="1866893" y="5379"/>
                    <a:pt x="1866893" y="12014"/>
                  </a:cubicBezTo>
                  <a:lnTo>
                    <a:pt x="1866893" y="1566650"/>
                  </a:lnTo>
                  <a:cubicBezTo>
                    <a:pt x="1866893" y="1569837"/>
                    <a:pt x="1865628" y="1572893"/>
                    <a:pt x="1863374" y="1575146"/>
                  </a:cubicBezTo>
                  <a:cubicBezTo>
                    <a:pt x="1861121" y="1577399"/>
                    <a:pt x="1858066" y="1578665"/>
                    <a:pt x="1854879" y="1578665"/>
                  </a:cubicBezTo>
                  <a:lnTo>
                    <a:pt x="12014" y="1578665"/>
                  </a:lnTo>
                  <a:cubicBezTo>
                    <a:pt x="8828" y="1578665"/>
                    <a:pt x="5772" y="1577399"/>
                    <a:pt x="3519" y="1575146"/>
                  </a:cubicBezTo>
                  <a:cubicBezTo>
                    <a:pt x="1266" y="1572893"/>
                    <a:pt x="0" y="1569837"/>
                    <a:pt x="0" y="1566650"/>
                  </a:cubicBezTo>
                  <a:lnTo>
                    <a:pt x="0" y="12014"/>
                  </a:lnTo>
                  <a:cubicBezTo>
                    <a:pt x="0" y="8828"/>
                    <a:pt x="1266" y="5772"/>
                    <a:pt x="3519" y="3519"/>
                  </a:cubicBezTo>
                  <a:cubicBezTo>
                    <a:pt x="5772" y="1266"/>
                    <a:pt x="8828" y="0"/>
                    <a:pt x="120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66893" cy="1635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537476" y="2021806"/>
            <a:ext cx="1083911" cy="1211074"/>
          </a:xfrm>
          <a:custGeom>
            <a:avLst/>
            <a:gdLst/>
            <a:ahLst/>
            <a:cxnLst/>
            <a:rect l="l" t="t" r="r" b="b"/>
            <a:pathLst>
              <a:path w="1083911" h="1211074">
                <a:moveTo>
                  <a:pt x="0" y="0"/>
                </a:moveTo>
                <a:lnTo>
                  <a:pt x="1083912" y="0"/>
                </a:lnTo>
                <a:lnTo>
                  <a:pt x="1083912" y="1211074"/>
                </a:lnTo>
                <a:lnTo>
                  <a:pt x="0" y="1211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0411057" y="3114938"/>
            <a:ext cx="6608125" cy="5303020"/>
          </a:xfrm>
          <a:custGeom>
            <a:avLst/>
            <a:gdLst/>
            <a:ahLst/>
            <a:cxnLst/>
            <a:rect l="l" t="t" r="r" b="b"/>
            <a:pathLst>
              <a:path w="6608125" h="5303020">
                <a:moveTo>
                  <a:pt x="0" y="0"/>
                </a:moveTo>
                <a:lnTo>
                  <a:pt x="6608125" y="0"/>
                </a:lnTo>
                <a:lnTo>
                  <a:pt x="6608125" y="5303020"/>
                </a:lnTo>
                <a:lnTo>
                  <a:pt x="0" y="5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1223314"/>
            <a:ext cx="7979245" cy="30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5"/>
              </a:lnSpc>
            </a:pPr>
            <a:r>
              <a:rPr lang="en-US" sz="2826" b="1" spc="-141">
                <a:solidFill>
                  <a:srgbClr val="1F191A"/>
                </a:solidFill>
                <a:latin typeface="Aileron Bold"/>
                <a:ea typeface="Aileron Bold"/>
                <a:cs typeface="Aileron Bold"/>
                <a:sym typeface="Aileron Bold"/>
              </a:rPr>
              <a:t>QUERY 14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548033"/>
            <a:ext cx="7003770" cy="15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Identifying loyal customers with 5+ orders using GROUP BY and HAVING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162550"/>
            <a:ext cx="3367191" cy="287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c.customer_id,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c.customer_name,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c.email,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c.city,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COUNT(o.order_id) AS total_orders,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SUM(oi.quantity * oi.unit_price)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AS total_spent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customers c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orders o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ON c.customer_id = o.customer_id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order_items oi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ON o.order_id = oi.order_id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c.customer_id,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c.customer_name,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c.email,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c.city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HAVING COUNT(o.order_id) &gt;= 5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total_orders DESC;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550656"/>
            <a:ext cx="4754504" cy="587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Business Insight: Highlights loyal customers who place 5 or more orders — critical for designing targeted loyalty programs, personalized retention campaigns, and long-term customer relationship strategies.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208085"/>
            <a:ext cx="7003770" cy="244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95"/>
              </a:lnSpc>
              <a:spcBef>
                <a:spcPct val="0"/>
              </a:spcBef>
            </a:pPr>
            <a:r>
              <a:rPr lang="en-US" sz="8465" b="1" u="none" strike="noStrike" spc="-423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REPEAT CUSTOMER 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57980" y="3332270"/>
            <a:ext cx="8714279" cy="4962160"/>
            <a:chOff x="0" y="0"/>
            <a:chExt cx="2295119" cy="13069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5119" cy="1306906"/>
            </a:xfrm>
            <a:custGeom>
              <a:avLst/>
              <a:gdLst/>
              <a:ahLst/>
              <a:cxnLst/>
              <a:rect l="l" t="t" r="r" b="b"/>
              <a:pathLst>
                <a:path w="2295119" h="1306906">
                  <a:moveTo>
                    <a:pt x="9773" y="0"/>
                  </a:moveTo>
                  <a:lnTo>
                    <a:pt x="2285346" y="0"/>
                  </a:lnTo>
                  <a:cubicBezTo>
                    <a:pt x="2287938" y="0"/>
                    <a:pt x="2290424" y="1030"/>
                    <a:pt x="2292257" y="2862"/>
                  </a:cubicBezTo>
                  <a:cubicBezTo>
                    <a:pt x="2294089" y="4695"/>
                    <a:pt x="2295119" y="7181"/>
                    <a:pt x="2295119" y="9773"/>
                  </a:cubicBezTo>
                  <a:lnTo>
                    <a:pt x="2295119" y="1297134"/>
                  </a:lnTo>
                  <a:cubicBezTo>
                    <a:pt x="2295119" y="1299726"/>
                    <a:pt x="2294089" y="1302211"/>
                    <a:pt x="2292257" y="1304044"/>
                  </a:cubicBezTo>
                  <a:cubicBezTo>
                    <a:pt x="2290424" y="1305877"/>
                    <a:pt x="2287938" y="1306906"/>
                    <a:pt x="2285346" y="1306906"/>
                  </a:cubicBezTo>
                  <a:lnTo>
                    <a:pt x="9773" y="1306906"/>
                  </a:lnTo>
                  <a:cubicBezTo>
                    <a:pt x="7181" y="1306906"/>
                    <a:pt x="4695" y="1305877"/>
                    <a:pt x="2862" y="1304044"/>
                  </a:cubicBezTo>
                  <a:cubicBezTo>
                    <a:pt x="1030" y="1302211"/>
                    <a:pt x="0" y="1299726"/>
                    <a:pt x="0" y="1297134"/>
                  </a:cubicBezTo>
                  <a:lnTo>
                    <a:pt x="0" y="9773"/>
                  </a:lnTo>
                  <a:cubicBezTo>
                    <a:pt x="0" y="7181"/>
                    <a:pt x="1030" y="4695"/>
                    <a:pt x="2862" y="2862"/>
                  </a:cubicBezTo>
                  <a:cubicBezTo>
                    <a:pt x="4695" y="1030"/>
                    <a:pt x="7181" y="0"/>
                    <a:pt x="977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95119" cy="1364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018323" y="1982683"/>
            <a:ext cx="3853286" cy="3834020"/>
          </a:xfrm>
          <a:custGeom>
            <a:avLst/>
            <a:gdLst/>
            <a:ahLst/>
            <a:cxnLst/>
            <a:rect l="l" t="t" r="r" b="b"/>
            <a:pathLst>
              <a:path w="3853286" h="3834020">
                <a:moveTo>
                  <a:pt x="0" y="0"/>
                </a:moveTo>
                <a:lnTo>
                  <a:pt x="3853286" y="0"/>
                </a:lnTo>
                <a:lnTo>
                  <a:pt x="3853286" y="3834019"/>
                </a:lnTo>
                <a:lnTo>
                  <a:pt x="0" y="38340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9583533" y="3626579"/>
            <a:ext cx="8263174" cy="4380247"/>
          </a:xfrm>
          <a:custGeom>
            <a:avLst/>
            <a:gdLst/>
            <a:ahLst/>
            <a:cxnLst/>
            <a:rect l="l" t="t" r="r" b="b"/>
            <a:pathLst>
              <a:path w="8263174" h="4380247">
                <a:moveTo>
                  <a:pt x="0" y="0"/>
                </a:moveTo>
                <a:lnTo>
                  <a:pt x="8263174" y="0"/>
                </a:lnTo>
                <a:lnTo>
                  <a:pt x="8263174" y="4380247"/>
                </a:lnTo>
                <a:lnTo>
                  <a:pt x="0" y="4380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2966868"/>
            <a:ext cx="7979245" cy="2176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2"/>
              </a:lnSpc>
            </a:pPr>
            <a:r>
              <a:rPr lang="en-US" sz="11017" b="1" spc="-550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DISCOUNT</a:t>
            </a:r>
          </a:p>
          <a:p>
            <a:pPr marL="0" lvl="0" indent="0" algn="l">
              <a:lnSpc>
                <a:spcPts val="7932"/>
              </a:lnSpc>
            </a:pPr>
            <a:r>
              <a:rPr lang="en-US" sz="11017" b="1" spc="-550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496568"/>
            <a:ext cx="7003770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Analyzes discount percentage tiers, item lines, units sold, and gross sales to assess the impact of discounts on overall revenue and volume.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835752"/>
            <a:ext cx="3367191" cy="1444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discount_pct,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COUNT(*) AS item_lines,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SUM(quantity) AS units_sold,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SUM(quantity * unit_price) AS gross_sales,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SUM(quantity * unit_price * (1 - discount_pct/100)) AS net_sales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order_items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 discount_pct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discount_pct ASC;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550656"/>
            <a:ext cx="4754504" cy="44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💡 Business Insight: Assesses impact of discounts on sales volume and revenue — helps optimize discount strategies for maximum profitability.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158802"/>
            <a:ext cx="7003770" cy="390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2"/>
              </a:lnSpc>
              <a:spcBef>
                <a:spcPct val="0"/>
              </a:spcBef>
            </a:pPr>
            <a:r>
              <a:rPr lang="en-US" sz="2266" b="1" spc="-11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QUERY 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52066" y="2769452"/>
            <a:ext cx="7870052" cy="5993993"/>
            <a:chOff x="0" y="0"/>
            <a:chExt cx="2072771" cy="1578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2771" cy="1578665"/>
            </a:xfrm>
            <a:custGeom>
              <a:avLst/>
              <a:gdLst/>
              <a:ahLst/>
              <a:cxnLst/>
              <a:rect l="l" t="t" r="r" b="b"/>
              <a:pathLst>
                <a:path w="2072771" h="1578665">
                  <a:moveTo>
                    <a:pt x="10821" y="0"/>
                  </a:moveTo>
                  <a:lnTo>
                    <a:pt x="2061950" y="0"/>
                  </a:lnTo>
                  <a:cubicBezTo>
                    <a:pt x="2067926" y="0"/>
                    <a:pt x="2072771" y="4845"/>
                    <a:pt x="2072771" y="10821"/>
                  </a:cubicBezTo>
                  <a:lnTo>
                    <a:pt x="2072771" y="1567844"/>
                  </a:lnTo>
                  <a:cubicBezTo>
                    <a:pt x="2072771" y="1573820"/>
                    <a:pt x="2067926" y="1578665"/>
                    <a:pt x="2061950" y="1578665"/>
                  </a:cubicBezTo>
                  <a:lnTo>
                    <a:pt x="10821" y="1578665"/>
                  </a:lnTo>
                  <a:cubicBezTo>
                    <a:pt x="4845" y="1578665"/>
                    <a:pt x="0" y="1573820"/>
                    <a:pt x="0" y="1567844"/>
                  </a:cubicBezTo>
                  <a:lnTo>
                    <a:pt x="0" y="10821"/>
                  </a:lnTo>
                  <a:cubicBezTo>
                    <a:pt x="0" y="4845"/>
                    <a:pt x="4845" y="0"/>
                    <a:pt x="108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72771" cy="1635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475564" y="6500462"/>
            <a:ext cx="2476502" cy="2080262"/>
          </a:xfrm>
          <a:custGeom>
            <a:avLst/>
            <a:gdLst/>
            <a:ahLst/>
            <a:cxnLst/>
            <a:rect l="l" t="t" r="r" b="b"/>
            <a:pathLst>
              <a:path w="2476502" h="2080262">
                <a:moveTo>
                  <a:pt x="0" y="0"/>
                </a:moveTo>
                <a:lnTo>
                  <a:pt x="2476502" y="0"/>
                </a:lnTo>
                <a:lnTo>
                  <a:pt x="2476502" y="2080261"/>
                </a:lnTo>
                <a:lnTo>
                  <a:pt x="0" y="2080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0170939" y="3156306"/>
            <a:ext cx="7426796" cy="5220284"/>
          </a:xfrm>
          <a:custGeom>
            <a:avLst/>
            <a:gdLst/>
            <a:ahLst/>
            <a:cxnLst/>
            <a:rect l="l" t="t" r="r" b="b"/>
            <a:pathLst>
              <a:path w="7426796" h="5220284">
                <a:moveTo>
                  <a:pt x="0" y="0"/>
                </a:moveTo>
                <a:lnTo>
                  <a:pt x="7426797" y="0"/>
                </a:lnTo>
                <a:lnTo>
                  <a:pt x="7426797" y="5220284"/>
                </a:lnTo>
                <a:lnTo>
                  <a:pt x="0" y="5220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2717550"/>
            <a:ext cx="7979245" cy="177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36"/>
              </a:lnSpc>
            </a:pPr>
            <a:r>
              <a:rPr lang="en-US" sz="8939" b="1" spc="-446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DEPARTMENT PERFORMANCE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579147"/>
            <a:ext cx="7003770" cy="1159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p.department,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COUNT(oi.order_item_id) AS total_units_sold,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SUM(oi.quantity * oi.unit_price * (1 - oi.discount_pct/100)) AS total_revenue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order_items oi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products pr ON oi.product_id = pr.product_id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JOIN categories p ON pr.category_id = p.category_id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 p.department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total_revenue DESC;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993221"/>
            <a:ext cx="3367191" cy="587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Business Insight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Provides department-wise performance breakdown for strategic business focus and resource allocation.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34306"/>
            <a:ext cx="4754504" cy="15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Techniques: JOIN · GROUP BY · SUM() · COUNT() · ORDER BY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75608"/>
            <a:ext cx="7979245" cy="43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2"/>
              </a:lnSpc>
              <a:spcBef>
                <a:spcPct val="0"/>
              </a:spcBef>
            </a:pPr>
            <a:r>
              <a:rPr lang="en-US" sz="2566" b="1" spc="-12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QUERY 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0939" y="4029112"/>
            <a:ext cx="7651179" cy="2588342"/>
            <a:chOff x="0" y="0"/>
            <a:chExt cx="2015125" cy="6817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5125" cy="681703"/>
            </a:xfrm>
            <a:custGeom>
              <a:avLst/>
              <a:gdLst/>
              <a:ahLst/>
              <a:cxnLst/>
              <a:rect l="l" t="t" r="r" b="b"/>
              <a:pathLst>
                <a:path w="2015125" h="681703">
                  <a:moveTo>
                    <a:pt x="11130" y="0"/>
                  </a:moveTo>
                  <a:lnTo>
                    <a:pt x="2003995" y="0"/>
                  </a:lnTo>
                  <a:cubicBezTo>
                    <a:pt x="2006947" y="0"/>
                    <a:pt x="2009778" y="1173"/>
                    <a:pt x="2011865" y="3260"/>
                  </a:cubicBezTo>
                  <a:cubicBezTo>
                    <a:pt x="2013953" y="5347"/>
                    <a:pt x="2015125" y="8178"/>
                    <a:pt x="2015125" y="11130"/>
                  </a:cubicBezTo>
                  <a:lnTo>
                    <a:pt x="2015125" y="670573"/>
                  </a:lnTo>
                  <a:cubicBezTo>
                    <a:pt x="2015125" y="673525"/>
                    <a:pt x="2013953" y="676356"/>
                    <a:pt x="2011865" y="678443"/>
                  </a:cubicBezTo>
                  <a:cubicBezTo>
                    <a:pt x="2009778" y="680530"/>
                    <a:pt x="2006947" y="681703"/>
                    <a:pt x="2003995" y="681703"/>
                  </a:cubicBezTo>
                  <a:lnTo>
                    <a:pt x="11130" y="681703"/>
                  </a:lnTo>
                  <a:cubicBezTo>
                    <a:pt x="8178" y="681703"/>
                    <a:pt x="5347" y="680530"/>
                    <a:pt x="3260" y="678443"/>
                  </a:cubicBezTo>
                  <a:cubicBezTo>
                    <a:pt x="1173" y="676356"/>
                    <a:pt x="0" y="673525"/>
                    <a:pt x="0" y="670573"/>
                  </a:cubicBezTo>
                  <a:lnTo>
                    <a:pt x="0" y="11130"/>
                  </a:lnTo>
                  <a:cubicBezTo>
                    <a:pt x="0" y="8178"/>
                    <a:pt x="1173" y="5347"/>
                    <a:pt x="3260" y="3260"/>
                  </a:cubicBezTo>
                  <a:cubicBezTo>
                    <a:pt x="5347" y="1173"/>
                    <a:pt x="8178" y="0"/>
                    <a:pt x="111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15125" cy="738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958765" y="3473142"/>
            <a:ext cx="3212174" cy="3650198"/>
          </a:xfrm>
          <a:custGeom>
            <a:avLst/>
            <a:gdLst/>
            <a:ahLst/>
            <a:cxnLst/>
            <a:rect l="l" t="t" r="r" b="b"/>
            <a:pathLst>
              <a:path w="3212174" h="3650198">
                <a:moveTo>
                  <a:pt x="0" y="0"/>
                </a:moveTo>
                <a:lnTo>
                  <a:pt x="3212174" y="0"/>
                </a:lnTo>
                <a:lnTo>
                  <a:pt x="3212174" y="3650198"/>
                </a:lnTo>
                <a:lnTo>
                  <a:pt x="0" y="3650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0477209" y="4383528"/>
            <a:ext cx="7038640" cy="1829426"/>
          </a:xfrm>
          <a:custGeom>
            <a:avLst/>
            <a:gdLst/>
            <a:ahLst/>
            <a:cxnLst/>
            <a:rect l="l" t="t" r="r" b="b"/>
            <a:pathLst>
              <a:path w="7038640" h="1829426">
                <a:moveTo>
                  <a:pt x="0" y="0"/>
                </a:moveTo>
                <a:lnTo>
                  <a:pt x="7038640" y="0"/>
                </a:lnTo>
                <a:lnTo>
                  <a:pt x="7038640" y="1829426"/>
                </a:lnTo>
                <a:lnTo>
                  <a:pt x="0" y="182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2927732"/>
            <a:ext cx="7979245" cy="260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55"/>
              </a:lnSpc>
            </a:pPr>
            <a:r>
              <a:rPr lang="en-US" sz="8965" b="1" spc="-448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PENDING &amp;</a:t>
            </a:r>
          </a:p>
          <a:p>
            <a:pPr marL="0" lvl="0" indent="0" algn="l">
              <a:lnSpc>
                <a:spcPts val="6455"/>
              </a:lnSpc>
            </a:pPr>
            <a:r>
              <a:rPr lang="en-US" sz="8965" b="1" spc="-448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REFUNDED</a:t>
            </a:r>
          </a:p>
          <a:p>
            <a:pPr marL="0" lvl="0" indent="0" algn="l">
              <a:lnSpc>
                <a:spcPts val="6455"/>
              </a:lnSpc>
            </a:pPr>
            <a:r>
              <a:rPr lang="en-US" sz="8965" b="1" spc="-448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PAYMENTS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591685"/>
            <a:ext cx="7003770" cy="35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5"/>
              </a:lnSpc>
            </a:pPr>
            <a:r>
              <a:rPr lang="en-US" sz="137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SQL with GROUP BY on payment_status, COUNT(*) and SUM(amount) to monitor pending and refunded payment volumes and cash flow impact.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121092"/>
            <a:ext cx="3367191" cy="1002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5"/>
              </a:lnSpc>
            </a:pPr>
            <a:r>
              <a:rPr lang="en-US" sz="137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SELECT payment_status,</a:t>
            </a:r>
          </a:p>
          <a:p>
            <a:pPr marL="0" lvl="0" indent="0" algn="l">
              <a:lnSpc>
                <a:spcPts val="1335"/>
              </a:lnSpc>
            </a:pPr>
            <a:r>
              <a:rPr lang="en-US" sz="137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COUNT(*) AS total_txns,</a:t>
            </a:r>
          </a:p>
          <a:p>
            <a:pPr marL="0" lvl="0" indent="0" algn="l">
              <a:lnSpc>
                <a:spcPts val="1335"/>
              </a:lnSpc>
            </a:pPr>
            <a:r>
              <a:rPr lang="en-US" sz="137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SUM(amount) AS total_amount</a:t>
            </a:r>
          </a:p>
          <a:p>
            <a:pPr marL="0" lvl="0" indent="0" algn="l">
              <a:lnSpc>
                <a:spcPts val="1335"/>
              </a:lnSpc>
            </a:pPr>
            <a:r>
              <a:rPr lang="en-US" sz="137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payments</a:t>
            </a:r>
          </a:p>
          <a:p>
            <a:pPr marL="0" lvl="0" indent="0" algn="l">
              <a:lnSpc>
                <a:spcPts val="1335"/>
              </a:lnSpc>
            </a:pPr>
            <a:r>
              <a:rPr lang="en-US" sz="137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GROUP BY payment_status</a:t>
            </a:r>
          </a:p>
          <a:p>
            <a:pPr marL="0" lvl="0" indent="0" algn="l">
              <a:lnSpc>
                <a:spcPts val="1335"/>
              </a:lnSpc>
            </a:pPr>
            <a:r>
              <a:rPr lang="en-US" sz="137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ORDER BY total_amount DESC;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541131"/>
            <a:ext cx="4754504" cy="678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5"/>
              </a:lnSpc>
            </a:pPr>
            <a:r>
              <a:rPr lang="en-US" sz="137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⚠ Business Insight: Monitors payment issues impacting cash flow</a:t>
            </a:r>
          </a:p>
          <a:p>
            <a:pPr marL="0" lvl="0" indent="0" algn="l">
              <a:lnSpc>
                <a:spcPts val="1335"/>
              </a:lnSpc>
            </a:pPr>
            <a:r>
              <a:rPr lang="en-US" sz="137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⚠ Highlights pending and refunded payment statuses</a:t>
            </a:r>
          </a:p>
          <a:p>
            <a:pPr marL="0" lvl="0" indent="0" algn="l">
              <a:lnSpc>
                <a:spcPts val="1335"/>
              </a:lnSpc>
            </a:pPr>
            <a:r>
              <a:rPr lang="en-US" sz="137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⚠ Supports financial risk and reconciliation tracking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149497"/>
            <a:ext cx="7003770" cy="43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  <a:spcBef>
                <a:spcPct val="0"/>
              </a:spcBef>
            </a:pPr>
            <a:r>
              <a:rPr lang="en-US" sz="2466" b="1" spc="-12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QUERY 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672840"/>
            <a:ext cx="7960859" cy="158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55"/>
              </a:lnSpc>
            </a:pPr>
            <a:r>
              <a:rPr lang="en-US" sz="7993" b="1" spc="-399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KEY BUSINESS</a:t>
            </a:r>
          </a:p>
          <a:p>
            <a:pPr marL="0" lvl="0" indent="0" algn="l">
              <a:lnSpc>
                <a:spcPts val="5755"/>
              </a:lnSpc>
            </a:pPr>
            <a:r>
              <a:rPr lang="en-US" sz="7993" b="1" spc="-399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INSIGHTS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131156"/>
            <a:ext cx="7003770" cy="71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7"/>
              </a:lnSpc>
            </a:pPr>
            <a:r>
              <a:rPr lang="en-US" sz="13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Revenue is heavily concentrated in a small number of high-performing product categories. Customer lifetime value analysis clearly identifies high-value segments worth prioritizing for retention and personalized marketing efforts.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038225"/>
            <a:ext cx="8813954" cy="54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7"/>
              </a:lnSpc>
            </a:pPr>
            <a:r>
              <a:rPr lang="en-US" sz="13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Analysis of 5,000 orders, 500 customers, and 1,000 products reveals clear patterns in revenue distribution, customer behavior, and inventory health — providing a strong foundation for data-driven decisions.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715100"/>
            <a:ext cx="3097293" cy="88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7"/>
              </a:lnSpc>
            </a:pPr>
            <a:r>
              <a:rPr lang="en-US" sz="13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Monthly revenue trends expose strong seasonality patterns, enabling better forecasting and campaign planning throughout the year.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35677" y="4715100"/>
            <a:ext cx="3097293" cy="88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7"/>
              </a:lnSpc>
            </a:pPr>
            <a:r>
              <a:rPr lang="en-US" sz="13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Payment behavior differs significantly across methods, revealing opportunities to optimize checkout flows and reduce refund and pending payment rates.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309854"/>
            <a:ext cx="5955623" cy="606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61"/>
              </a:lnSpc>
            </a:pPr>
            <a:r>
              <a:rPr lang="en-US" sz="160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Revenue concentrated in few high-performing categories</a:t>
            </a:r>
          </a:p>
          <a:p>
            <a:pPr marL="0" lvl="0" indent="0" algn="l">
              <a:lnSpc>
                <a:spcPts val="1561"/>
              </a:lnSpc>
            </a:pPr>
            <a:r>
              <a:rPr lang="en-US" sz="160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Customer lifetime value identifies high-value segments</a:t>
            </a:r>
          </a:p>
          <a:p>
            <a:pPr marL="0" lvl="0" indent="0" algn="l">
              <a:lnSpc>
                <a:spcPts val="1561"/>
              </a:lnSpc>
            </a:pPr>
            <a:r>
              <a:rPr lang="en-US" sz="160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Inventory analysis flags products needing restock</a:t>
            </a:r>
          </a:p>
        </p:txBody>
      </p:sp>
      <p:sp>
        <p:nvSpPr>
          <p:cNvPr id="8" name="Freeform 8"/>
          <p:cNvSpPr/>
          <p:nvPr/>
        </p:nvSpPr>
        <p:spPr>
          <a:xfrm>
            <a:off x="9501764" y="1176270"/>
            <a:ext cx="7251632" cy="9014529"/>
          </a:xfrm>
          <a:custGeom>
            <a:avLst/>
            <a:gdLst/>
            <a:ahLst/>
            <a:cxnLst/>
            <a:rect l="l" t="t" r="r" b="b"/>
            <a:pathLst>
              <a:path w="7251632" h="9014529">
                <a:moveTo>
                  <a:pt x="0" y="0"/>
                </a:moveTo>
                <a:lnTo>
                  <a:pt x="7251632" y="0"/>
                </a:lnTo>
                <a:lnTo>
                  <a:pt x="7251632" y="9014530"/>
                </a:lnTo>
                <a:lnTo>
                  <a:pt x="0" y="9014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323975"/>
            <a:ext cx="7960859" cy="1294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00"/>
              </a:lnSpc>
            </a:pPr>
            <a:r>
              <a:rPr lang="en-US" sz="6527" b="1" spc="-326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BUSINESS</a:t>
            </a:r>
          </a:p>
          <a:p>
            <a:pPr marL="0" lvl="0" indent="0" algn="l">
              <a:lnSpc>
                <a:spcPts val="4700"/>
              </a:lnSpc>
            </a:pPr>
            <a:r>
              <a:rPr lang="en-US" sz="6527" b="1" spc="-326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RECOMMENDATIONS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7417331"/>
            <a:ext cx="7003770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These recommendations are derived directly from query outputs across sales, customer, product, and payment analyses — enabling data-driven decisions at every business level.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051706"/>
            <a:ext cx="8813954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Based on SQL-driven analysis of the e-commerce dataset, the following strategic recommendations are proposed to improve revenue, customer retention, inventory health, and payment performance.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841623"/>
            <a:ext cx="3097293" cy="130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 algn="l">
              <a:lnSpc>
                <a:spcPts val="1164"/>
              </a:lnSpc>
              <a:buAutoNum type="arabicPeriod"/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Focus Marketing</a:t>
            </a:r>
          </a:p>
          <a:p>
            <a:pPr marL="259080" lvl="1" indent="-129540" algn="l">
              <a:lnSpc>
                <a:spcPts val="1164"/>
              </a:lnSpc>
              <a:buAutoNum type="arabicPeriod"/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Concentrate campaigns on high-revenue categories and top-performing products identified through revenue analysis.</a:t>
            </a:r>
          </a:p>
          <a:p>
            <a:pPr marL="259080" lvl="1" indent="-129540" algn="l">
              <a:lnSpc>
                <a:spcPts val="1164"/>
              </a:lnSpc>
              <a:buAutoNum type="arabicPeriod"/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Retain High-Value Customers</a:t>
            </a:r>
          </a:p>
          <a:p>
            <a:pPr marL="259080" lvl="1" indent="-129540" algn="l">
              <a:lnSpc>
                <a:spcPts val="1164"/>
              </a:lnSpc>
              <a:buAutoNum type="arabicPeriod"/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Deploy loyalty programs targeting customers with highest lifetime value and repeat order frequency.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35677" y="3913060"/>
            <a:ext cx="3097293" cy="1159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 algn="l">
              <a:lnSpc>
                <a:spcPts val="1164"/>
              </a:lnSpc>
              <a:buAutoNum type="arabicPeriod"/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Replenish Low-Stock Products</a:t>
            </a:r>
          </a:p>
          <a:p>
            <a:pPr marL="259080" lvl="1" indent="-129540" algn="l">
              <a:lnSpc>
                <a:spcPts val="1164"/>
              </a:lnSpc>
              <a:buAutoNum type="arabicPeriod"/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Prioritize restocking of products flagged by inventory analysis to prevent lost sales opportunities.</a:t>
            </a:r>
          </a:p>
          <a:p>
            <a:pPr marL="259080" lvl="1" indent="-129540" algn="l">
              <a:lnSpc>
                <a:spcPts val="1164"/>
              </a:lnSpc>
              <a:buAutoNum type="arabicPeriod"/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Optimize Discount Strategies</a:t>
            </a:r>
          </a:p>
          <a:p>
            <a:pPr marL="259080" lvl="1" indent="-129540" algn="l">
              <a:lnSpc>
                <a:spcPts val="1164"/>
              </a:lnSpc>
              <a:buAutoNum type="arabicPeriod"/>
            </a:pPr>
            <a:r>
              <a:rPr lang="en-US" sz="12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Review discount tiers using discount impact analysis to protect margins while sustaining volume.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829127"/>
            <a:ext cx="5955623" cy="774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716" lvl="1" indent="-134858" algn="l">
              <a:lnSpc>
                <a:spcPts val="1211"/>
              </a:lnSpc>
              <a:buAutoNum type="arabicPeriod"/>
            </a:pPr>
            <a:r>
              <a:rPr lang="en-US" sz="124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Reduce Payment &amp; Refund Issues — monitor pending and refunded payments to protect cash flow</a:t>
            </a:r>
          </a:p>
          <a:p>
            <a:pPr marL="269716" lvl="1" indent="-134858" algn="l">
              <a:lnSpc>
                <a:spcPts val="1211"/>
              </a:lnSpc>
              <a:buAutoNum type="arabicPeriod"/>
            </a:pPr>
            <a:r>
              <a:rPr lang="en-US" sz="124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Align regional marketing with city-level revenue data for targeted outreach</a:t>
            </a:r>
          </a:p>
          <a:p>
            <a:pPr marL="269716" lvl="1" indent="-134858" algn="l">
              <a:lnSpc>
                <a:spcPts val="1211"/>
              </a:lnSpc>
              <a:buAutoNum type="arabicPeriod"/>
            </a:pPr>
            <a:r>
              <a:rPr lang="en-US" sz="124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Use monthly trend insights to plan seasonal promotions effectively</a:t>
            </a:r>
          </a:p>
        </p:txBody>
      </p:sp>
      <p:sp>
        <p:nvSpPr>
          <p:cNvPr id="8" name="Freeform 8"/>
          <p:cNvSpPr/>
          <p:nvPr/>
        </p:nvSpPr>
        <p:spPr>
          <a:xfrm>
            <a:off x="10174490" y="2318932"/>
            <a:ext cx="6929923" cy="6982290"/>
          </a:xfrm>
          <a:custGeom>
            <a:avLst/>
            <a:gdLst/>
            <a:ahLst/>
            <a:cxnLst/>
            <a:rect l="l" t="t" r="r" b="b"/>
            <a:pathLst>
              <a:path w="6929923" h="6982290">
                <a:moveTo>
                  <a:pt x="0" y="0"/>
                </a:moveTo>
                <a:lnTo>
                  <a:pt x="6929922" y="0"/>
                </a:lnTo>
                <a:lnTo>
                  <a:pt x="6929922" y="6982290"/>
                </a:lnTo>
                <a:lnTo>
                  <a:pt x="0" y="6982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63804" y="5505450"/>
            <a:ext cx="7875158" cy="239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28"/>
              </a:lnSpc>
            </a:pPr>
            <a:r>
              <a:rPr lang="en-US" sz="8234" b="1" spc="-411">
                <a:solidFill>
                  <a:srgbClr val="FAFAFA"/>
                </a:solidFill>
                <a:latin typeface="Aileron Bold"/>
                <a:ea typeface="Aileron Bold"/>
                <a:cs typeface="Aileron Bold"/>
                <a:sym typeface="Aileron Bold"/>
              </a:rPr>
              <a:t>WHAT THIS PROJECT DEMONSTRATES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363804" y="3533775"/>
            <a:ext cx="7003770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 comprehensive showcase of data analyst skills applied to a real-world e-commerce database — from raw SQL to actionable business insights.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599462" y="8379206"/>
            <a:ext cx="5481590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Every query in this project was designed to answer a real business question — turning structured data into strategic decisions.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63804" y="1047750"/>
            <a:ext cx="3108416" cy="87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CORE SKILLS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SQL ●●●●●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Data Modeling ●●●●○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Data Analysis ●●●●●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Business Intelligence ●●●●○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Problem Solving ●●●●●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56778" y="1047750"/>
            <a:ext cx="3108416" cy="87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TECHNIQUES USED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MySQL &amp; Joins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CTE &amp; Subqueries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Window Functions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Aggregation &amp; HAVING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Analytical Views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63804" y="8379206"/>
            <a:ext cx="2696679" cy="87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MySQL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Joins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CTE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Window Functions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Views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Aggregation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942794" y="1089135"/>
            <a:ext cx="7827186" cy="8577738"/>
          </a:xfrm>
          <a:custGeom>
            <a:avLst/>
            <a:gdLst/>
            <a:ahLst/>
            <a:cxnLst/>
            <a:rect l="l" t="t" r="r" b="b"/>
            <a:pathLst>
              <a:path w="7827186" h="8577738">
                <a:moveTo>
                  <a:pt x="0" y="0"/>
                </a:moveTo>
                <a:lnTo>
                  <a:pt x="7827186" y="0"/>
                </a:lnTo>
                <a:lnTo>
                  <a:pt x="7827186" y="8577738"/>
                </a:lnTo>
                <a:lnTo>
                  <a:pt x="0" y="8577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63804" y="3703881"/>
            <a:ext cx="8107320" cy="325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79"/>
              </a:lnSpc>
            </a:pPr>
            <a:r>
              <a:rPr lang="en-US" sz="11221" b="1" spc="-561">
                <a:solidFill>
                  <a:srgbClr val="FAFAFA"/>
                </a:solidFill>
                <a:latin typeface="Aileron Bold"/>
                <a:ea typeface="Aileron Bold"/>
                <a:cs typeface="Aileron Bold"/>
                <a:sym typeface="Aileron Bold"/>
              </a:rPr>
              <a:t>FROM RAW</a:t>
            </a:r>
          </a:p>
          <a:p>
            <a:pPr marL="0" lvl="0" indent="0" algn="l">
              <a:lnSpc>
                <a:spcPts val="8079"/>
              </a:lnSpc>
            </a:pPr>
            <a:r>
              <a:rPr lang="en-US" sz="11221" b="1" spc="-561">
                <a:solidFill>
                  <a:srgbClr val="FAFAFA"/>
                </a:solidFill>
                <a:latin typeface="Aileron Bold"/>
                <a:ea typeface="Aileron Bold"/>
                <a:cs typeface="Aileron Bold"/>
                <a:sym typeface="Aileron Bold"/>
              </a:rPr>
              <a:t>DATA TO</a:t>
            </a:r>
          </a:p>
          <a:p>
            <a:pPr marL="0" lvl="0" indent="0" algn="l">
              <a:lnSpc>
                <a:spcPts val="8079"/>
              </a:lnSpc>
            </a:pPr>
            <a:r>
              <a:rPr lang="en-US" sz="11221" b="1" spc="-561">
                <a:solidFill>
                  <a:srgbClr val="FAFAFA"/>
                </a:solidFill>
                <a:latin typeface="Aileron Bold"/>
                <a:ea typeface="Aileron Bold"/>
                <a:cs typeface="Aileron Bold"/>
                <a:sym typeface="Aileron Bold"/>
              </a:rPr>
              <a:t>INSIGHT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363804" y="1047750"/>
            <a:ext cx="7003770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 structured, end-to-end analytical workflow — from building the relational database to delivering actionable business decisions using SQL and data modeling.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104343" y="8207756"/>
            <a:ext cx="3709830" cy="587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Each step builds on the last — raw data is structured, queried, analyzed, and transformed into clear, actionable insights that drive smarter business decisions.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047750"/>
            <a:ext cx="5555178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E-Commerce Sales &amp; Customer Analytics</a:t>
            </a:r>
          </a:p>
          <a:p>
            <a:pPr marL="0" lvl="0" indent="0" algn="l">
              <a:lnSpc>
                <a:spcPts val="1164"/>
              </a:lnSpc>
            </a:pPr>
            <a:r>
              <a:rPr lang="en-US" sz="12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MySQL Data Analyst Portfolio Project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63804" y="8298477"/>
            <a:ext cx="3060513" cy="110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PROCESS FLOW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① DATABASE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② DATA MODEL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③ SQL QUERIES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④ ANALYSIS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⑤ INSIGHTS</a:t>
            </a:r>
          </a:p>
          <a:p>
            <a:pPr marL="0" lvl="0" indent="0" algn="l">
              <a:lnSpc>
                <a:spcPts val="1268"/>
              </a:lnSpc>
            </a:pPr>
            <a:r>
              <a:rPr lang="en-US" sz="130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⑥ BUSINESS DECISIONS</a:t>
            </a:r>
          </a:p>
        </p:txBody>
      </p:sp>
      <p:sp>
        <p:nvSpPr>
          <p:cNvPr id="7" name="Freeform 7"/>
          <p:cNvSpPr/>
          <p:nvPr/>
        </p:nvSpPr>
        <p:spPr>
          <a:xfrm>
            <a:off x="1215741" y="3146530"/>
            <a:ext cx="6752853" cy="6212625"/>
          </a:xfrm>
          <a:custGeom>
            <a:avLst/>
            <a:gdLst/>
            <a:ahLst/>
            <a:cxnLst/>
            <a:rect l="l" t="t" r="r" b="b"/>
            <a:pathLst>
              <a:path w="6752853" h="6212625">
                <a:moveTo>
                  <a:pt x="0" y="0"/>
                </a:moveTo>
                <a:lnTo>
                  <a:pt x="6752854" y="0"/>
                </a:lnTo>
                <a:lnTo>
                  <a:pt x="6752854" y="6212625"/>
                </a:lnTo>
                <a:lnTo>
                  <a:pt x="0" y="6212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495425"/>
            <a:ext cx="8514108" cy="108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49"/>
              </a:lnSpc>
            </a:pPr>
            <a:r>
              <a:rPr lang="en-US" sz="10207" b="1" spc="-510">
                <a:solidFill>
                  <a:srgbClr val="2A3B4C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120698"/>
            <a:ext cx="7003770" cy="71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This project demonstrates how SQL can transform relational e-commerce data into actionable business insights.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From designing a normalized database to writing advanced analytical queries, every step was driven by real business questions and measurable outcomes.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789678"/>
            <a:ext cx="3133370" cy="71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Raw relational tables structured for analysis — customers, orders, products, payments.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19054" y="4789678"/>
            <a:ext cx="3964283" cy="71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</a:p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SQL queries, CTEs, window functions, and views uncovering patterns and performance.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712581"/>
            <a:ext cx="4754504" cy="37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8"/>
              </a:lnSpc>
            </a:pPr>
            <a:r>
              <a:rPr lang="en-US" sz="1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DECISION  →  Insights that drive smarter strategy, retention, and growth.</a:t>
            </a:r>
          </a:p>
        </p:txBody>
      </p:sp>
      <p:sp>
        <p:nvSpPr>
          <p:cNvPr id="7" name="Freeform 7"/>
          <p:cNvSpPr/>
          <p:nvPr/>
        </p:nvSpPr>
        <p:spPr>
          <a:xfrm>
            <a:off x="10333202" y="2076573"/>
            <a:ext cx="6887719" cy="7537860"/>
          </a:xfrm>
          <a:custGeom>
            <a:avLst/>
            <a:gdLst/>
            <a:ahLst/>
            <a:cxnLst/>
            <a:rect l="l" t="t" r="r" b="b"/>
            <a:pathLst>
              <a:path w="6887719" h="7537860">
                <a:moveTo>
                  <a:pt x="0" y="0"/>
                </a:moveTo>
                <a:lnTo>
                  <a:pt x="6887720" y="0"/>
                </a:lnTo>
                <a:lnTo>
                  <a:pt x="6887720" y="7537860"/>
                </a:lnTo>
                <a:lnTo>
                  <a:pt x="0" y="7537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76123" y="4413558"/>
            <a:ext cx="7606788" cy="6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8"/>
              </a:lnSpc>
            </a:pPr>
            <a:r>
              <a:rPr lang="en-US" sz="6303" b="1" spc="-315">
                <a:solidFill>
                  <a:srgbClr val="FAFAFA"/>
                </a:solidFill>
                <a:latin typeface="Aileron Bold"/>
                <a:ea typeface="Aileron Bold"/>
                <a:cs typeface="Aileron Bold"/>
                <a:sym typeface="Aileron 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676123" y="5464735"/>
            <a:ext cx="7606788" cy="1250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8"/>
              </a:lnSpc>
            </a:pPr>
            <a:r>
              <a:rPr lang="en-US" sz="6303" b="1" spc="-315">
                <a:solidFill>
                  <a:srgbClr val="E3EFFF"/>
                </a:solidFill>
                <a:latin typeface="Aileron Bold"/>
                <a:ea typeface="Aileron Bold"/>
                <a:cs typeface="Aileron Bold"/>
                <a:sym typeface="Aileron Bold"/>
              </a:rPr>
              <a:t>QUESTIONS &amp;</a:t>
            </a:r>
          </a:p>
          <a:p>
            <a:pPr marL="0" lvl="0" indent="0" algn="l">
              <a:lnSpc>
                <a:spcPts val="4538"/>
              </a:lnSpc>
            </a:pPr>
            <a:r>
              <a:rPr lang="en-US" sz="6303" b="1" spc="-315">
                <a:solidFill>
                  <a:srgbClr val="E3EFFF"/>
                </a:solidFill>
                <a:latin typeface="Aileron Bold"/>
                <a:ea typeface="Aileron Bold"/>
                <a:cs typeface="Aileron Bold"/>
                <a:sym typeface="Aileron Bold"/>
              </a:rPr>
              <a:t>DISCUSSION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76123" y="6730068"/>
            <a:ext cx="5893327" cy="71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7"/>
              </a:lnSpc>
            </a:pPr>
            <a:r>
              <a:rPr lang="en-US" sz="13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Sahil Kanojia</a:t>
            </a:r>
          </a:p>
          <a:p>
            <a:pPr marL="0" lvl="0" indent="0" algn="l">
              <a:lnSpc>
                <a:spcPts val="1357"/>
              </a:lnSpc>
            </a:pPr>
            <a:r>
              <a:rPr lang="en-US" sz="13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Aspiring Data Analyst</a:t>
            </a:r>
          </a:p>
          <a:p>
            <a:pPr marL="0" lvl="0" indent="0" algn="l">
              <a:lnSpc>
                <a:spcPts val="1357"/>
              </a:lnSpc>
            </a:pPr>
            <a:r>
              <a:rPr lang="en-US" sz="13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This project demonstrates how SQL can transform relational e-commerce data into actionable business insights.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76123" y="9055481"/>
            <a:ext cx="2279265" cy="2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7"/>
              </a:lnSpc>
            </a:pPr>
            <a:r>
              <a:rPr lang="en-US" sz="13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Sahil Kanojia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055096" y="9055481"/>
            <a:ext cx="2279265" cy="2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57"/>
              </a:lnSpc>
            </a:pPr>
            <a:r>
              <a:rPr lang="en-US" sz="1399" spc="-2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Aspiring Data Analyst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76123" y="1038225"/>
            <a:ext cx="2279265" cy="2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7"/>
              </a:lnSpc>
            </a:pPr>
            <a:r>
              <a:rPr lang="en-US" sz="13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E-Commerce Analytics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55096" y="1038225"/>
            <a:ext cx="2279265" cy="20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57"/>
              </a:lnSpc>
            </a:pPr>
            <a:r>
              <a:rPr lang="en-US" sz="139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MySQL Portfolio</a:t>
            </a:r>
          </a:p>
        </p:txBody>
      </p:sp>
      <p:sp>
        <p:nvSpPr>
          <p:cNvPr id="9" name="Freeform 9"/>
          <p:cNvSpPr/>
          <p:nvPr/>
        </p:nvSpPr>
        <p:spPr>
          <a:xfrm>
            <a:off x="745520" y="2607313"/>
            <a:ext cx="7327938" cy="6439425"/>
          </a:xfrm>
          <a:custGeom>
            <a:avLst/>
            <a:gdLst/>
            <a:ahLst/>
            <a:cxnLst/>
            <a:rect l="l" t="t" r="r" b="b"/>
            <a:pathLst>
              <a:path w="7327938" h="6439425">
                <a:moveTo>
                  <a:pt x="0" y="0"/>
                </a:moveTo>
                <a:lnTo>
                  <a:pt x="7327937" y="0"/>
                </a:lnTo>
                <a:lnTo>
                  <a:pt x="7327937" y="6439426"/>
                </a:lnTo>
                <a:lnTo>
                  <a:pt x="0" y="6439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3376</Words>
  <Application>Microsoft Office PowerPoint</Application>
  <PresentationFormat>Custom</PresentationFormat>
  <Paragraphs>496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Aileron Light</vt:lpstr>
      <vt:lpstr>Arial</vt:lpstr>
      <vt:lpstr>Poppins</vt:lpstr>
      <vt:lpstr>Aileron Bold</vt:lpstr>
      <vt:lpstr>Poppins Bold</vt:lpstr>
      <vt:lpstr>Poppins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&amp; Customer Analytics Portfolio</dc:title>
  <cp:lastModifiedBy>Disha Kanojia</cp:lastModifiedBy>
  <cp:revision>2</cp:revision>
  <dcterms:created xsi:type="dcterms:W3CDTF">2006-08-16T00:00:00Z</dcterms:created>
  <dcterms:modified xsi:type="dcterms:W3CDTF">2026-09-12T17:40:01Z</dcterms:modified>
  <dc:identifier>DAHU6ceXwb4</dc:identifier>
</cp:coreProperties>
</file>